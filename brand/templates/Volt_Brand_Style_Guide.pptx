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rand" id="{b6308143-a8d7-0cc6-9abd-c04964024f2d}">
          <p14:sldIdLst>
            <p14:sldId id="256"/>
            <p14:sldId id="257"/>
          </p14:sldIdLst>
        </p14:section>
        <p14:section name="Default-1" id="{0496f36a-6a89-7d83-4e8e-df724f3bb95d}">
          <p14:sldIdLst>
            <p14:sldId id="258"/>
            <p14:sldId id="259"/>
          </p14:sldIdLst>
        </p14:section>
        <p14:section name="Logo" id="{1b917798-9bde-f0e0-154a-fb40faf25fe0}">
          <p14:sldIdLst>
            <p14:sldId id="260"/>
            <p14:sldId id="261"/>
            <p14:sldId id="262"/>
            <p14:sldId id="263"/>
          </p14:sldIdLst>
        </p14:section>
        <p14:section name="Colour and type" id="{7f135280-ae6e-8982-1f4d-8dd4903b55fa}">
          <p14:sldIdLst>
            <p14:sldId id="264"/>
            <p14:sldId id="265"/>
            <p14:sldId id="266"/>
            <p14:sldId id="267"/>
          </p14:sldIdLst>
        </p14:section>
        <p14:section name="Icons and diagrams" id="{17e9dc85-8abd-47a1-09d6-ca3baa12b0db}">
          <p14:sldIdLst>
            <p14:sldId id="268"/>
            <p14:sldId id="269"/>
            <p14:sldId id="270"/>
          </p14:sldIdLst>
        </p14:section>
        <p14:section name="Applications" id="{9bcda822-8338-aff7-4584-f95c49e4714a}">
          <p14:sldIdLst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lt title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o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919508" cy="274320"/>
          </a:xfrm>
          <a:prstGeom prst="rect">
            <a:avLst/>
          </a:prstGeom>
        </p:spPr>
      </p:pic>
      <p:sp>
        <p:nvSpPr>
          <p:cNvPr id="3" name="Volt blend block"/>
          <p:cNvSpPr/>
          <p:nvPr/>
        </p:nvSpPr>
        <p:spPr>
          <a:xfrm>
            <a:off x="6903720" y="502920"/>
            <a:ext cx="4739335" cy="5349240"/>
          </a:xfrm>
          <a:prstGeom prst="roundRect">
            <a:avLst>
              <a:gd name="adj" fmla="val 2200"/>
            </a:avLst>
          </a:prstGeom>
          <a:gradFill rotWithShape="1">
            <a:gsLst>
              <a:gs pos="0">
                <a:srgbClr val="5B8CFF"/>
              </a:gs>
              <a:gs pos="100000">
                <a:srgbClr val="4F46E5"/>
              </a:gs>
            </a:gsLst>
            <a:lin ang="3000000" scaled="0"/>
          </a:gradFill>
          <a:ln/>
        </p:spPr>
      </p:sp>
      <p:sp>
        <p:nvSpPr>
          <p:cNvPr id="4" name="Slit"/>
          <p:cNvSpPr/>
          <p:nvPr/>
        </p:nvSpPr>
        <p:spPr>
          <a:xfrm rot="780000">
            <a:off x="10419588" y="197953"/>
            <a:ext cx="146304" cy="5959173"/>
          </a:xfrm>
          <a:prstGeom prst="rect">
            <a:avLst/>
          </a:prstGeom>
          <a:solidFill>
            <a:srgbClr val="0F1218"/>
          </a:solidFill>
          <a:ln/>
        </p:spPr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1783080"/>
            <a:ext cx="56692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15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100" spc="15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EYEBROW</a:t>
            </a:r>
            <a:endParaRPr lang="en-US" sz="11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548640" y="2148840"/>
            <a:ext cx="548640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2000"/>
              </a:lnSpc>
              <a:buNone/>
              <a:defRPr lang="en-US" sz="5000" spc="-10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defRPr>
            </a:lvl1pPr>
          </a:lstStyle>
          <a:p>
            <a:pPr algn="l" indent="0" marL="0">
              <a:lnSpc>
                <a:spcPct val="92000"/>
              </a:lnSpc>
              <a:buNone/>
            </a:pPr>
            <a:r>
              <a:rPr lang="en-US" sz="5000" spc="-10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One display headline</a:t>
            </a:r>
            <a:endParaRPr lang="en-US" sz="5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548640" y="4572000"/>
            <a:ext cx="5212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deck line that says what happens.</a:t>
            </a:r>
            <a:endParaRPr lang="en-US" sz="18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548640" y="5989320"/>
            <a:ext cx="56692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Presenter name · Role · Date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lt section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lt blend block"/>
          <p:cNvSpPr/>
          <p:nvPr/>
        </p:nvSpPr>
        <p:spPr>
          <a:xfrm>
            <a:off x="9052560" y="502920"/>
            <a:ext cx="2590495" cy="5257800"/>
          </a:xfrm>
          <a:prstGeom prst="roundRect">
            <a:avLst>
              <a:gd name="adj" fmla="val 2200"/>
            </a:avLst>
          </a:prstGeom>
          <a:gradFill rotWithShape="1">
            <a:gsLst>
              <a:gs pos="0">
                <a:srgbClr val="5B8CFF"/>
              </a:gs>
              <a:gs pos="100000">
                <a:srgbClr val="4F46E5"/>
              </a:gs>
            </a:gsLst>
            <a:lin ang="3000000" scaled="0"/>
          </a:gradFill>
          <a:ln/>
        </p:spPr>
      </p:sp>
      <p:sp>
        <p:nvSpPr>
          <p:cNvPr id="3" name="Slit"/>
          <p:cNvSpPr/>
          <p:nvPr/>
        </p:nvSpPr>
        <p:spPr>
          <a:xfrm rot="780000">
            <a:off x="10521579" y="199156"/>
            <a:ext cx="146304" cy="5865328"/>
          </a:xfrm>
          <a:prstGeom prst="rect">
            <a:avLst/>
          </a:prstGeom>
          <a:solidFill>
            <a:srgbClr val="0F1218"/>
          </a:solidFill>
          <a:ln/>
        </p:spPr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548640" y="2148840"/>
            <a:ext cx="7772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15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100" spc="15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SECTION 00</a:t>
            </a:r>
            <a:endParaRPr lang="en-US" sz="11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2514600"/>
            <a:ext cx="78638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2000"/>
              </a:lnSpc>
              <a:buNone/>
              <a:defRPr lang="en-US" sz="5400" spc="-10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defRPr>
            </a:lvl1pPr>
          </a:lstStyle>
          <a:p>
            <a:pPr algn="l" indent="0" marL="0">
              <a:lnSpc>
                <a:spcPct val="92000"/>
              </a:lnSpc>
              <a:buNone/>
            </a:pPr>
            <a:r>
              <a:rPr lang="en-US" sz="5400" spc="-10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Section title</a:t>
            </a:r>
            <a:endParaRPr lang="en-US" sz="54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548640" y="4297680"/>
            <a:ext cx="68580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line on what this section covers.</a:t>
            </a:r>
            <a:endParaRPr lang="en-US" sz="1800" dirty="0"/>
          </a:p>
        </p:txBody>
      </p:sp>
      <p:pic>
        <p:nvPicPr>
          <p:cNvPr id="7" name="Image 0" descr="Vo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27648"/>
            <a:ext cx="613006" cy="182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lt title and content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EYEBROW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Slide title in sentence case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1000"/>
              </a:spcAft>
              <a:buNone/>
              <a:defRPr lang="en-US" sz="18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text in Inter, 16 to 20pt</a:t>
            </a:r>
            <a:endParaRPr lang="en-US" sz="1800" dirty="0"/>
          </a:p>
        </p:txBody>
      </p:sp>
      <p:pic>
        <p:nvPicPr>
          <p:cNvPr id="5" name="Image 0" descr="Vo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27648"/>
            <a:ext cx="613006" cy="182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lt title only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EYEBROW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Slide title in sentence case</a:t>
            </a:r>
            <a:endParaRPr lang="en-US" sz="3400" dirty="0"/>
          </a:p>
        </p:txBody>
      </p:sp>
      <p:pic>
        <p:nvPicPr>
          <p:cNvPr id="4" name="Image 0" descr="Vo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27648"/>
            <a:ext cx="613006" cy="182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lt title and content paper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spc="140" kern="0" dirty="0">
                <a:solidFill>
                  <a:srgbClr val="4F46E5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000" spc="140" kern="0" dirty="0">
                <a:solidFill>
                  <a:srgbClr val="4F46E5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EYEBROW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400" spc="-60" kern="0" dirty="0">
                <a:solidFill>
                  <a:srgbClr val="0F1218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0F1218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Slide title in sentence case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828800"/>
            <a:ext cx="4937760" cy="4023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1000"/>
              </a:spcAft>
              <a:buNone/>
              <a:defRPr lang="en-US" sz="1700" dirty="0">
                <a:solidFill>
                  <a:srgbClr val="4B5468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4B5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text in Inter, 16 to 20pt</a:t>
            </a:r>
            <a:endParaRPr lang="en-US" sz="1700" dirty="0"/>
          </a:p>
        </p:txBody>
      </p:sp>
      <p:pic>
        <p:nvPicPr>
          <p:cNvPr id="5" name="Image 0" descr="Vo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27648"/>
            <a:ext cx="613006" cy="182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4B546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lt title only paper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spc="140" kern="0" dirty="0">
                <a:solidFill>
                  <a:srgbClr val="4F46E5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000" spc="140" kern="0" dirty="0">
                <a:solidFill>
                  <a:srgbClr val="4F46E5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EYEBROW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400" spc="-60" kern="0" dirty="0">
                <a:solidFill>
                  <a:srgbClr val="0F1218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0F1218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Slide title in sentence case</a:t>
            </a:r>
            <a:endParaRPr lang="en-US" sz="3400" dirty="0"/>
          </a:p>
        </p:txBody>
      </p:sp>
      <p:pic>
        <p:nvPicPr>
          <p:cNvPr id="4" name="Image 0" descr="Vo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27648"/>
            <a:ext cx="613006" cy="182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4B546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lt text and visual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EYEBROW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Slide title in sentence case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828800"/>
            <a:ext cx="4480560" cy="4023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1000"/>
              </a:spcAft>
              <a:buNone/>
              <a:defRPr lang="en-US" sz="16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column. The visual (table, screen or diagram) sits on the right from 6.0 in.</a:t>
            </a:r>
            <a:endParaRPr lang="en-US" sz="1600" dirty="0"/>
          </a:p>
        </p:txBody>
      </p:sp>
      <p:pic>
        <p:nvPicPr>
          <p:cNvPr id="5" name="Image 0" descr="Vo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27648"/>
            <a:ext cx="613006" cy="182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lt closing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olt Stream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2598821" cy="329184"/>
          </a:xfrm>
          <a:prstGeom prst="rect">
            <a:avLst/>
          </a:prstGeom>
        </p:spPr>
      </p:pic>
      <p:sp>
        <p:nvSpPr>
          <p:cNvPr id="3" name="Volt blend block"/>
          <p:cNvSpPr/>
          <p:nvPr/>
        </p:nvSpPr>
        <p:spPr>
          <a:xfrm>
            <a:off x="7863840" y="502920"/>
            <a:ext cx="3779215" cy="5349240"/>
          </a:xfrm>
          <a:prstGeom prst="roundRect">
            <a:avLst>
              <a:gd name="adj" fmla="val 2200"/>
            </a:avLst>
          </a:prstGeom>
          <a:gradFill rotWithShape="1">
            <a:gsLst>
              <a:gs pos="0">
                <a:srgbClr val="5B8CFF"/>
              </a:gs>
              <a:gs pos="100000">
                <a:srgbClr val="4F46E5"/>
              </a:gs>
            </a:gsLst>
            <a:lin ang="3000000" scaled="0"/>
          </a:gradFill>
          <a:ln/>
        </p:spPr>
      </p:sp>
      <p:sp>
        <p:nvSpPr>
          <p:cNvPr id="4" name="Slit"/>
          <p:cNvSpPr/>
          <p:nvPr/>
        </p:nvSpPr>
        <p:spPr>
          <a:xfrm rot="780000">
            <a:off x="10190988" y="197953"/>
            <a:ext cx="146304" cy="5959173"/>
          </a:xfrm>
          <a:prstGeom prst="rect">
            <a:avLst/>
          </a:prstGeom>
          <a:solidFill>
            <a:srgbClr val="0F1218"/>
          </a:solidFill>
          <a:ln/>
        </p:spPr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2011680"/>
            <a:ext cx="67665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2000"/>
              </a:lnSpc>
              <a:buNone/>
              <a:defRPr lang="en-US" sz="5400" spc="-10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defRPr>
            </a:lvl1pPr>
          </a:lstStyle>
          <a:p>
            <a:pPr algn="l" indent="0" marL="0">
              <a:lnSpc>
                <a:spcPct val="92000"/>
              </a:lnSpc>
              <a:buNone/>
            </a:pPr>
            <a:r>
              <a:rPr lang="en-US" sz="5400" spc="-10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Closing line</a:t>
            </a:r>
            <a:endParaRPr lang="en-US" sz="54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548640" y="3611880"/>
            <a:ext cx="62179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line on what happens next.</a:t>
            </a:r>
            <a:endParaRPr lang="en-US" sz="18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548640" y="5577840"/>
            <a:ext cx="67665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 · email · phone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1.png"/><Relationship Id="rId7" Type="http://schemas.openxmlformats.org/officeDocument/2006/relationships/image" Target="../media/image-7-1.png"/><Relationship Id="rId8" Type="http://schemas.openxmlformats.org/officeDocument/2006/relationships/image" Target="../media/image-7-8.png"/><Relationship Id="rId9" Type="http://schemas.openxmlformats.org/officeDocument/2006/relationships/image" Target="../media/image-7-8.png"/><Relationship Id="rId10" Type="http://schemas.openxmlformats.org/officeDocument/2006/relationships/image" Target="../media/image-7-10.png"/><Relationship Id="rId11" Type="http://schemas.openxmlformats.org/officeDocument/2006/relationships/image" Target="../media/image-7-1.png"/><Relationship Id="rId12" Type="http://schemas.openxmlformats.org/officeDocument/2006/relationships/slideLayout" Target="../slideLayouts/slideLayout5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4.png"/><Relationship Id="rId6" Type="http://schemas.openxmlformats.org/officeDocument/2006/relationships/image" Target="../media/image-13-4.png"/><Relationship Id="rId7" Type="http://schemas.openxmlformats.org/officeDocument/2006/relationships/image" Target="../media/image-13-4.png"/><Relationship Id="rId8" Type="http://schemas.openxmlformats.org/officeDocument/2006/relationships/image" Target="../media/image-13-4.pn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pn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png"/><Relationship Id="rId21" Type="http://schemas.openxmlformats.org/officeDocument/2006/relationships/image" Target="../media/image-14-21.png"/><Relationship Id="rId22" Type="http://schemas.openxmlformats.org/officeDocument/2006/relationships/image" Target="../media/image-14-22.png"/><Relationship Id="rId23" Type="http://schemas.openxmlformats.org/officeDocument/2006/relationships/image" Target="../media/image-14-23.png"/><Relationship Id="rId24" Type="http://schemas.openxmlformats.org/officeDocument/2006/relationships/image" Target="../media/image-14-24.png"/><Relationship Id="rId25" Type="http://schemas.openxmlformats.org/officeDocument/2006/relationships/image" Target="../media/image-14-25.png"/><Relationship Id="rId26" Type="http://schemas.openxmlformats.org/officeDocument/2006/relationships/image" Target="../media/image-14-26.png"/><Relationship Id="rId27" Type="http://schemas.openxmlformats.org/officeDocument/2006/relationships/image" Target="../media/image-14-27.png"/><Relationship Id="rId28" Type="http://schemas.openxmlformats.org/officeDocument/2006/relationships/image" Target="../media/image-14-28.png"/><Relationship Id="rId29" Type="http://schemas.openxmlformats.org/officeDocument/2006/relationships/image" Target="../media/image-14-29.png"/><Relationship Id="rId30" Type="http://schemas.openxmlformats.org/officeDocument/2006/relationships/image" Target="../media/image-14-30.png"/><Relationship Id="rId31" Type="http://schemas.openxmlformats.org/officeDocument/2006/relationships/image" Target="../media/image-14-31.png"/><Relationship Id="rId32" Type="http://schemas.openxmlformats.org/officeDocument/2006/relationships/image" Target="../media/image-14-32.png"/><Relationship Id="rId33" Type="http://schemas.openxmlformats.org/officeDocument/2006/relationships/image" Target="../media/image-14-33.png"/><Relationship Id="rId34" Type="http://schemas.openxmlformats.org/officeDocument/2006/relationships/image" Target="../media/image-14-34.png"/><Relationship Id="rId35" Type="http://schemas.openxmlformats.org/officeDocument/2006/relationships/image" Target="../media/image-14-35.png"/><Relationship Id="rId36" Type="http://schemas.openxmlformats.org/officeDocument/2006/relationships/image" Target="../media/image-14-36.png"/><Relationship Id="rId37" Type="http://schemas.openxmlformats.org/officeDocument/2006/relationships/image" Target="../media/image-14-37.png"/><Relationship Id="rId38" Type="http://schemas.openxmlformats.org/officeDocument/2006/relationships/image" Target="../media/image-14-38.png"/><Relationship Id="rId39" Type="http://schemas.openxmlformats.org/officeDocument/2006/relationships/image" Target="../media/image-14-39.png"/><Relationship Id="rId40" Type="http://schemas.openxmlformats.org/officeDocument/2006/relationships/image" Target="../media/image-14-40.png"/><Relationship Id="rId41" Type="http://schemas.openxmlformats.org/officeDocument/2006/relationships/image" Target="../media/image-14-41.png"/><Relationship Id="rId42" Type="http://schemas.openxmlformats.org/officeDocument/2006/relationships/image" Target="../media/image-14-42.png"/><Relationship Id="rId43" Type="http://schemas.openxmlformats.org/officeDocument/2006/relationships/image" Target="../media/image-14-43.png"/><Relationship Id="rId44" Type="http://schemas.openxmlformats.org/officeDocument/2006/relationships/image" Target="../media/image-14-44.png"/><Relationship Id="rId45" Type="http://schemas.openxmlformats.org/officeDocument/2006/relationships/image" Target="../media/image-14-45.png"/><Relationship Id="rId46" Type="http://schemas.openxmlformats.org/officeDocument/2006/relationships/image" Target="../media/image-14-46.png"/><Relationship Id="rId47" Type="http://schemas.openxmlformats.org/officeDocument/2006/relationships/image" Target="../media/image-14-47.png"/><Relationship Id="rId48" Type="http://schemas.openxmlformats.org/officeDocument/2006/relationships/image" Target="../media/image-14-48.png"/><Relationship Id="rId49" Type="http://schemas.openxmlformats.org/officeDocument/2006/relationships/image" Target="../media/image-14-49.png"/><Relationship Id="rId50" Type="http://schemas.openxmlformats.org/officeDocument/2006/relationships/image" Target="../media/image-14-50.png"/><Relationship Id="rId51" Type="http://schemas.openxmlformats.org/officeDocument/2006/relationships/image" Target="../media/image-14-51.png"/><Relationship Id="rId52" Type="http://schemas.openxmlformats.org/officeDocument/2006/relationships/slideLayout" Target="../slideLayouts/slideLayout5.xml"/><Relationship Id="rId5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8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1.png"/><Relationship Id="rId3" Type="http://schemas.openxmlformats.org/officeDocument/2006/relationships/image" Target="../media/image-19-1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17830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BRAND GUIDE · 2026</a:t>
            </a:r>
            <a:endParaRPr lang="en-US" sz="11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000" spc="-10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One bright current.</a:t>
            </a:r>
            <a:endParaRPr lang="en-US" sz="50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548640" y="45720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name, logo, colour, type, icons and diagrams of Volt Streaming work together.</a:t>
            </a:r>
            <a:endParaRPr lang="en-US" sz="1800" dirty="0"/>
          </a:p>
        </p:txBody>
      </p:sp>
      <p:sp>
        <p:nvSpPr>
          <p:cNvPr id="5" name="Text 2"/>
          <p:cNvSpPr/>
          <p:nvPr>
            <p:ph idx="106" type="body" hasCustomPrompt="1"/>
          </p:nvPr>
        </p:nvSpPr>
        <p:spPr>
          <a:xfrm>
            <a:off x="548640" y="59893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Version 1 · October 2026</a:t>
            </a:r>
            <a:endParaRPr lang="en-US" sz="1100" dirty="0"/>
          </a:p>
        </p:txBody>
      </p:sp>
      <p:sp>
        <p:nvSpPr>
          <p:cNvPr id="6" name="Screen shadow"/>
          <p:cNvSpPr/>
          <p:nvPr/>
        </p:nvSpPr>
        <p:spPr>
          <a:xfrm>
            <a:off x="6263640" y="2651760"/>
            <a:ext cx="4572000" cy="2594610"/>
          </a:xfrm>
          <a:prstGeom prst="roundRect">
            <a:avLst>
              <a:gd name="adj" fmla="val 2819"/>
            </a:avLst>
          </a:prstGeom>
          <a:solidFill>
            <a:srgbClr val="171B24"/>
          </a:solidFill>
          <a:ln/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Channel 2 Live on a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2651760"/>
            <a:ext cx="4572000" cy="2594610"/>
          </a:xfrm>
          <a:prstGeom prst="rect">
            <a:avLst/>
          </a:prstGeom>
        </p:spPr>
      </p:pic>
      <p:sp>
        <p:nvSpPr>
          <p:cNvPr id="8" name="Screen frame"/>
          <p:cNvSpPr/>
          <p:nvPr/>
        </p:nvSpPr>
        <p:spPr>
          <a:xfrm>
            <a:off x="6263640" y="2651760"/>
            <a:ext cx="4572000" cy="2594610"/>
          </a:xfrm>
          <a:prstGeom prst="roundRect">
            <a:avLst>
              <a:gd name="adj" fmla="val 1905"/>
            </a:avLst>
          </a:prstGeom>
          <a:ln w="9525">
            <a:solidFill>
              <a:srgbClr val="2E344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THE PRODUCT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A live-first streaming platform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828800"/>
            <a:ext cx="4480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Volt Streaming runs live channels, live events, radio, FAST and loops.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Recordings turn into a media library, and the library turns back into a channel.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brand comes from the control room: dark, calm and precise, with one bright current running through it.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5486400" y="1828800"/>
            <a:ext cx="1121603" cy="1325880"/>
          </a:xfrm>
          <a:prstGeom prst="roundRect">
            <a:avLst>
              <a:gd name="adj" fmla="val 8968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sp>
        <p:nvSpPr>
          <p:cNvPr id="6" name="Node channel"/>
          <p:cNvSpPr/>
          <p:nvPr/>
        </p:nvSpPr>
        <p:spPr>
          <a:xfrm>
            <a:off x="5791170" y="2011680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1C2130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7" name="Image 0" descr="channel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9186" y="2139696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0" y="2670048"/>
            <a:ext cx="11216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Live Channels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6745163" y="1828800"/>
            <a:ext cx="1121603" cy="1325880"/>
          </a:xfrm>
          <a:prstGeom prst="roundRect">
            <a:avLst>
              <a:gd name="adj" fmla="val 8968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sp>
        <p:nvSpPr>
          <p:cNvPr id="10" name="Node event"/>
          <p:cNvSpPr/>
          <p:nvPr/>
        </p:nvSpPr>
        <p:spPr>
          <a:xfrm>
            <a:off x="7049933" y="2011680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1C2130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11" name="Image 1" descr="even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949" y="213969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745163" y="2670048"/>
            <a:ext cx="11216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Live Events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8003926" y="1828800"/>
            <a:ext cx="1121603" cy="1325880"/>
          </a:xfrm>
          <a:prstGeom prst="roundRect">
            <a:avLst>
              <a:gd name="adj" fmla="val 8968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sp>
        <p:nvSpPr>
          <p:cNvPr id="14" name="Node radio"/>
          <p:cNvSpPr/>
          <p:nvPr/>
        </p:nvSpPr>
        <p:spPr>
          <a:xfrm>
            <a:off x="8308696" y="2011680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1C2130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15" name="Image 2" descr="radio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6712" y="213969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003926" y="2670048"/>
            <a:ext cx="11216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Radio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9262689" y="1828800"/>
            <a:ext cx="1121603" cy="1325880"/>
          </a:xfrm>
          <a:prstGeom prst="roundRect">
            <a:avLst>
              <a:gd name="adj" fmla="val 8968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sp>
        <p:nvSpPr>
          <p:cNvPr id="18" name="Node fast"/>
          <p:cNvSpPr/>
          <p:nvPr/>
        </p:nvSpPr>
        <p:spPr>
          <a:xfrm>
            <a:off x="9567459" y="2011680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1C2130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19" name="Image 3" descr="fas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5475" y="2139696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262689" y="2670048"/>
            <a:ext cx="11216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FAST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10521452" y="1828800"/>
            <a:ext cx="1121603" cy="1325880"/>
          </a:xfrm>
          <a:prstGeom prst="roundRect">
            <a:avLst>
              <a:gd name="adj" fmla="val 8968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sp>
        <p:nvSpPr>
          <p:cNvPr id="22" name="Node loop"/>
          <p:cNvSpPr/>
          <p:nvPr/>
        </p:nvSpPr>
        <p:spPr>
          <a:xfrm>
            <a:off x="10826222" y="2011680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1C2130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23" name="Image 4" descr="loop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4238" y="2139696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0521452" y="2670048"/>
            <a:ext cx="11216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Loops</a:t>
            </a:r>
            <a:endParaRPr lang="en-US" sz="1200" dirty="0"/>
          </a:p>
        </p:txBody>
      </p:sp>
      <p:sp>
        <p:nvSpPr>
          <p:cNvPr id="25" name="Card"/>
          <p:cNvSpPr/>
          <p:nvPr/>
        </p:nvSpPr>
        <p:spPr>
          <a:xfrm>
            <a:off x="5486400" y="3429000"/>
            <a:ext cx="2941168" cy="2468880"/>
          </a:xfrm>
          <a:prstGeom prst="roundRect">
            <a:avLst>
              <a:gd name="adj" fmla="val 4074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sp>
        <p:nvSpPr>
          <p:cNvPr id="26" name="Node live-to-vod"/>
          <p:cNvSpPr/>
          <p:nvPr/>
        </p:nvSpPr>
        <p:spPr>
          <a:xfrm>
            <a:off x="5760720" y="3703320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C2130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27" name="Image 5" descr="live-to-vod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2452" y="3845052"/>
            <a:ext cx="283464" cy="28346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760720" y="4480560"/>
            <a:ext cx="239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SIGNATURE WORKFLOW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5760720" y="4736592"/>
            <a:ext cx="239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Live </a:t>
            </a:r>
            <a:pPr indent="0" marL="0">
              <a:buNone/>
            </a:pPr>
            <a:r>
              <a:rPr lang="en-US" sz="2000" b="1" dirty="0">
                <a:solidFill>
                  <a:srgbClr val="E9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indent="0" marL="0">
              <a:buNone/>
            </a:pPr>
            <a:r>
              <a:rPr lang="en-US" sz="200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 VOD</a:t>
            </a:r>
            <a:endParaRPr lang="en-US" sz="2000" dirty="0"/>
          </a:p>
        </p:txBody>
      </p:sp>
      <p:sp>
        <p:nvSpPr>
          <p:cNvPr id="30" name="Text 22"/>
          <p:cNvSpPr txBox="1"/>
          <p:nvPr/>
        </p:nvSpPr>
        <p:spPr>
          <a:xfrm>
            <a:off x="5760720" y="5120640"/>
            <a:ext cx="2392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every channel as it airs. Clip and publish while it is still live.</a:t>
            </a:r>
            <a:endParaRPr lang="en-US" sz="1200" dirty="0"/>
          </a:p>
        </p:txBody>
      </p:sp>
      <p:sp>
        <p:nvSpPr>
          <p:cNvPr id="31" name="Card"/>
          <p:cNvSpPr/>
          <p:nvPr/>
        </p:nvSpPr>
        <p:spPr>
          <a:xfrm>
            <a:off x="8701888" y="3429000"/>
            <a:ext cx="2941168" cy="2468880"/>
          </a:xfrm>
          <a:prstGeom prst="roundRect">
            <a:avLst>
              <a:gd name="adj" fmla="val 4074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sp>
        <p:nvSpPr>
          <p:cNvPr id="32" name="Node vod-to-live"/>
          <p:cNvSpPr/>
          <p:nvPr/>
        </p:nvSpPr>
        <p:spPr>
          <a:xfrm>
            <a:off x="8976208" y="3703320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C2130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33" name="Image 6" descr="vod-to-live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7940" y="3845052"/>
            <a:ext cx="283464" cy="283464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8976208" y="4480560"/>
            <a:ext cx="239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SIGNATURE WORKFLOW</a:t>
            </a:r>
            <a:endParaRPr lang="en-US" sz="1000" dirty="0"/>
          </a:p>
        </p:txBody>
      </p:sp>
      <p:sp>
        <p:nvSpPr>
          <p:cNvPr id="35" name="Text 26"/>
          <p:cNvSpPr txBox="1"/>
          <p:nvPr/>
        </p:nvSpPr>
        <p:spPr>
          <a:xfrm>
            <a:off x="8976208" y="4736592"/>
            <a:ext cx="239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VOD </a:t>
            </a:r>
            <a:pPr indent="0" marL="0">
              <a:buNone/>
            </a:pPr>
            <a:r>
              <a:rPr lang="en-US" sz="2000" b="1" dirty="0">
                <a:solidFill>
                  <a:srgbClr val="E9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indent="0" marL="0">
              <a:buNone/>
            </a:pPr>
            <a:r>
              <a:rPr lang="en-US" sz="200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 Live</a:t>
            </a:r>
            <a:endParaRPr lang="en-US" sz="2000" dirty="0"/>
          </a:p>
        </p:txBody>
      </p:sp>
      <p:sp>
        <p:nvSpPr>
          <p:cNvPr id="36" name="Text 27"/>
          <p:cNvSpPr txBox="1"/>
          <p:nvPr/>
        </p:nvSpPr>
        <p:spPr>
          <a:xfrm>
            <a:off x="8976208" y="5120640"/>
            <a:ext cx="2392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a media library into a scheduled channel.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NAME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Volt Streaming, then Volt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828800"/>
            <a:ext cx="5410048" cy="2926080"/>
          </a:xfrm>
          <a:prstGeom prst="roundRect">
            <a:avLst>
              <a:gd name="adj" fmla="val 3438"/>
            </a:avLst>
          </a:prstGeom>
          <a:solidFill>
            <a:srgbClr val="1A2040"/>
          </a:solidFill>
          <a:ln w="9525">
            <a:solidFill>
              <a:srgbClr val="2E3766"/>
            </a:solidFill>
            <a:prstDash val="solid"/>
          </a:ln>
        </p:spPr>
      </p:sp>
      <p:sp>
        <p:nvSpPr>
          <p:cNvPr id="5" name="Card"/>
          <p:cNvSpPr/>
          <p:nvPr/>
        </p:nvSpPr>
        <p:spPr>
          <a:xfrm>
            <a:off x="6233008" y="1828800"/>
            <a:ext cx="5410048" cy="2926080"/>
          </a:xfrm>
          <a:prstGeom prst="roundRect">
            <a:avLst>
              <a:gd name="adj" fmla="val 3438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WRITE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553048" y="2057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98A1B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NEVER WRITE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23160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Volt Streaming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97480"/>
            <a:ext cx="476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mention in any document, page or ad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990088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Volt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264408"/>
            <a:ext cx="476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mention after that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557016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Live streaming platform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831336"/>
            <a:ext cx="476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descriptor, when one is needed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123944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Live </a:t>
            </a:r>
            <a:pPr indent="0" marL="0">
              <a:buNone/>
            </a:pPr>
            <a:r>
              <a:rPr lang="en-US" sz="1600" dirty="0">
                <a:solidFill>
                  <a:srgbClr val="E9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indent="0" marL="0">
              <a:buNone/>
            </a:pPr>
            <a:r>
              <a:rPr lang="en-US" sz="16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VOD  ·  VOD </a:t>
            </a:r>
            <a:pPr indent="0" marL="0">
              <a:buNone/>
            </a:pPr>
            <a:r>
              <a:rPr lang="en-US" sz="1600" dirty="0">
                <a:solidFill>
                  <a:srgbClr val="E9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indent="0" marL="0">
              <a:buNone/>
            </a:pPr>
            <a:r>
              <a:rPr lang="en-US" sz="16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Live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398264"/>
            <a:ext cx="476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workflows, with an arrow. Plain text: Live to VOD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553048" y="2423160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strike="sngStrike" dirty="0">
                <a:solidFill>
                  <a:srgbClr val="6A738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VOLT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553048" y="2697480"/>
            <a:ext cx="476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caps is only for eyebrows and status pills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53048" y="2990088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strike="sngStrike" dirty="0">
                <a:solidFill>
                  <a:srgbClr val="6A738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volt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53048" y="3264408"/>
            <a:ext cx="476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name is always title case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553048" y="3557016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strike="sngStrike" dirty="0">
                <a:solidFill>
                  <a:srgbClr val="6A738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VOLT Stream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553048" y="3831336"/>
            <a:ext cx="476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Earlier working names are retired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553048" y="4123944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strike="sngStrike" dirty="0">
                <a:solidFill>
                  <a:srgbClr val="6A738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Volt streaming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53048" y="4398264"/>
            <a:ext cx="476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 is part of the name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029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98A1B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PRODUCT AREAS KEEP THEIR UI NAMES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5349240"/>
            <a:ext cx="1260958" cy="329184"/>
          </a:xfrm>
          <a:prstGeom prst="roundRect">
            <a:avLst>
              <a:gd name="adj" fmla="val 50000"/>
            </a:avLst>
          </a:prstGeom>
          <a:solidFill>
            <a:srgbClr val="21273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5349240"/>
            <a:ext cx="1260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CF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Live Channels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919326" y="5349240"/>
            <a:ext cx="1109167" cy="329184"/>
          </a:xfrm>
          <a:prstGeom prst="roundRect">
            <a:avLst>
              <a:gd name="adj" fmla="val 50000"/>
            </a:avLst>
          </a:prstGeom>
          <a:solidFill>
            <a:srgbClr val="21273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919326" y="5349240"/>
            <a:ext cx="11091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CF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Live Events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138221" y="5349240"/>
            <a:ext cx="653796" cy="329184"/>
          </a:xfrm>
          <a:prstGeom prst="roundRect">
            <a:avLst>
              <a:gd name="adj" fmla="val 50000"/>
            </a:avLst>
          </a:prstGeom>
          <a:solidFill>
            <a:srgbClr val="21273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138221" y="5349240"/>
            <a:ext cx="6537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CF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Radio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901745" y="5349240"/>
            <a:ext cx="577901" cy="329184"/>
          </a:xfrm>
          <a:prstGeom prst="roundRect">
            <a:avLst>
              <a:gd name="adj" fmla="val 50000"/>
            </a:avLst>
          </a:prstGeom>
          <a:solidFill>
            <a:srgbClr val="21273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901745" y="5349240"/>
            <a:ext cx="5779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CF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FAST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89374" y="5349240"/>
            <a:ext cx="653796" cy="329184"/>
          </a:xfrm>
          <a:prstGeom prst="roundRect">
            <a:avLst>
              <a:gd name="adj" fmla="val 50000"/>
            </a:avLst>
          </a:prstGeom>
          <a:solidFill>
            <a:srgbClr val="21273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589374" y="5349240"/>
            <a:ext cx="6537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CF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Loops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352898" y="5349240"/>
            <a:ext cx="1033272" cy="329184"/>
          </a:xfrm>
          <a:prstGeom prst="roundRect">
            <a:avLst>
              <a:gd name="adj" fmla="val 50000"/>
            </a:avLst>
          </a:prstGeom>
          <a:solidFill>
            <a:srgbClr val="21273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352898" y="5349240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CF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Recordings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95898" y="5349240"/>
            <a:ext cx="1260958" cy="329184"/>
          </a:xfrm>
          <a:prstGeom prst="roundRect">
            <a:avLst>
              <a:gd name="adj" fmla="val 50000"/>
            </a:avLst>
          </a:prstGeom>
          <a:solidFill>
            <a:srgbClr val="21273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495898" y="5349240"/>
            <a:ext cx="1260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CF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Media Library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866583" y="5349240"/>
            <a:ext cx="502006" cy="329184"/>
          </a:xfrm>
          <a:prstGeom prst="roundRect">
            <a:avLst>
              <a:gd name="adj" fmla="val 50000"/>
            </a:avLst>
          </a:prstGeom>
          <a:solidFill>
            <a:srgbClr val="21273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866583" y="5349240"/>
            <a:ext cx="5020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CF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EPG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478317" y="5349240"/>
            <a:ext cx="957377" cy="329184"/>
          </a:xfrm>
          <a:prstGeom prst="roundRect">
            <a:avLst>
              <a:gd name="adj" fmla="val 50000"/>
            </a:avLst>
          </a:prstGeom>
          <a:solidFill>
            <a:srgbClr val="21273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478317" y="5349240"/>
            <a:ext cx="957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CF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Multiview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545422" y="5349240"/>
            <a:ext cx="1185062" cy="329184"/>
          </a:xfrm>
          <a:prstGeom prst="roundRect">
            <a:avLst>
              <a:gd name="adj" fmla="val 50000"/>
            </a:avLst>
          </a:prstGeom>
          <a:solidFill>
            <a:srgbClr val="21273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545422" y="5349240"/>
            <a:ext cx="11850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CF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Watchfolders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840212" y="5349240"/>
            <a:ext cx="957377" cy="329184"/>
          </a:xfrm>
          <a:prstGeom prst="roundRect">
            <a:avLst>
              <a:gd name="adj" fmla="val 50000"/>
            </a:avLst>
          </a:prstGeom>
          <a:solidFill>
            <a:srgbClr val="212736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0840212" y="5349240"/>
            <a:ext cx="9573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CF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VOICE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A senior broadcast engineer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47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828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Plain and specific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1214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 what happens.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151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5968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operator's words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8895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air, ingest, failover, rendition, as-run, slate.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383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3649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Active voice, present tense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657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Buttons state the action. Confirmations repeat it.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151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133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Errors explain and fix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4256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failed, what Volt did, and when.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9194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49011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Calm about failure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1937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product exists for the bad night.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5486400" y="1828800"/>
            <a:ext cx="6156655" cy="1161288"/>
          </a:xfrm>
          <a:prstGeom prst="roundRect">
            <a:avLst>
              <a:gd name="adj" fmla="val 8661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0" y="19933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WRITE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1938528"/>
            <a:ext cx="4693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CF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Recording starts when the channel goes on air.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760720" y="2578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98A1B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NOT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2532888"/>
            <a:ext cx="4693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trike="sngStrike" dirty="0">
                <a:solidFill>
                  <a:srgbClr val="6A73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Seamlessly capture your content.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5486400" y="3127248"/>
            <a:ext cx="6156655" cy="1161288"/>
          </a:xfrm>
          <a:prstGeom prst="roundRect">
            <a:avLst>
              <a:gd name="adj" fmla="val 8661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760720" y="32918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WRITE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720840" y="3236976"/>
            <a:ext cx="4693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CF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 signal on the primary input. Volt switched to the backup at 14:02:11.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760720" y="38770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98A1B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NOT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720840" y="3831336"/>
            <a:ext cx="4693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trike="sngStrike" dirty="0">
                <a:solidFill>
                  <a:srgbClr val="6A73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Oops, something went wrong.</a:t>
            </a:r>
            <a:endParaRPr lang="en-US" sz="1400" dirty="0"/>
          </a:p>
        </p:txBody>
      </p:sp>
      <p:sp>
        <p:nvSpPr>
          <p:cNvPr id="29" name="Card"/>
          <p:cNvSpPr/>
          <p:nvPr/>
        </p:nvSpPr>
        <p:spPr>
          <a:xfrm>
            <a:off x="5486400" y="4425696"/>
            <a:ext cx="6156655" cy="1161288"/>
          </a:xfrm>
          <a:prstGeom prst="roundRect">
            <a:avLst>
              <a:gd name="adj" fmla="val 8661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760720" y="45902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WRITE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720840" y="4535424"/>
            <a:ext cx="4693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CF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Go on air  ·  On air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760720" y="51755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98A1B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NOT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720840" y="5129784"/>
            <a:ext cx="4693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trike="sngStrike" dirty="0">
                <a:solidFill>
                  <a:srgbClr val="6A73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Let's get you streaming!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76072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UK spelling · sentence case · no emoji · em dashes and semicolons rare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LOGO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The split bolt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828800"/>
            <a:ext cx="7304837" cy="1874520"/>
          </a:xfrm>
          <a:prstGeom prst="roundRect">
            <a:avLst>
              <a:gd name="adj" fmla="val 5366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pic>
        <p:nvPicPr>
          <p:cNvPr id="5" name="Image 0" descr="Volt Streamin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395728"/>
            <a:ext cx="4042611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2461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lockup on Control room. The default.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476037" y="325526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A738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volt-lockup-on-dark</a:t>
            </a:r>
            <a:endParaRPr lang="en-US" sz="950" dirty="0"/>
          </a:p>
        </p:txBody>
      </p:sp>
      <p:sp>
        <p:nvSpPr>
          <p:cNvPr id="8" name="Card"/>
          <p:cNvSpPr/>
          <p:nvPr/>
        </p:nvSpPr>
        <p:spPr>
          <a:xfrm>
            <a:off x="8127797" y="1828800"/>
            <a:ext cx="3515258" cy="1874520"/>
          </a:xfrm>
          <a:prstGeom prst="roundRect">
            <a:avLst>
              <a:gd name="adj" fmla="val 5366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pic>
        <p:nvPicPr>
          <p:cNvPr id="9" name="Image 1" descr="/tmp/claude-0/-home-claude/1f4339df-fb00-509e-93e4-fe12d7533144/scratchpad/repo/brand/logos/png/volt-tile@5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277" y="2194560"/>
            <a:ext cx="822960" cy="822960"/>
          </a:xfrm>
          <a:prstGeom prst="rect">
            <a:avLst/>
          </a:prstGeom>
        </p:spPr>
      </p:pic>
      <p:pic>
        <p:nvPicPr>
          <p:cNvPr id="10" name="Image 2" descr="/tmp/claude-0/-home-claude/1f4339df-fb00-509e-93e4-fe12d7533144/scratchpad/repo/brand/logos/png/volt-tile@51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5117" y="2395728"/>
            <a:ext cx="457200" cy="457200"/>
          </a:xfrm>
          <a:prstGeom prst="rect">
            <a:avLst/>
          </a:prstGeom>
        </p:spPr>
      </p:pic>
      <p:pic>
        <p:nvPicPr>
          <p:cNvPr id="11" name="Image 3" descr="/tmp/claude-0/-home-claude/1f4339df-fb00-509e-93e4-fe12d7533144/scratchpad/repo/brand/logos/png/volt-tile@51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5197" y="2496312"/>
            <a:ext cx="256032" cy="25603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539277" y="3246120"/>
            <a:ext cx="29666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Tile: app icon, favicon, avatar</a:t>
            </a:r>
            <a:endParaRPr lang="en-US" sz="1050" dirty="0"/>
          </a:p>
        </p:txBody>
      </p:sp>
      <p:sp>
        <p:nvSpPr>
          <p:cNvPr id="13" name="Card"/>
          <p:cNvSpPr/>
          <p:nvPr/>
        </p:nvSpPr>
        <p:spPr>
          <a:xfrm>
            <a:off x="548640" y="3977640"/>
            <a:ext cx="3515258" cy="1874520"/>
          </a:xfrm>
          <a:prstGeom prst="roundRect">
            <a:avLst>
              <a:gd name="adj" fmla="val 5366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pic>
        <p:nvPicPr>
          <p:cNvPr id="14" name="Image 4" descr="Volt Streaming log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389120"/>
            <a:ext cx="1685765" cy="50292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960120" y="5394960"/>
            <a:ext cx="29666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lockup: footers, app headers</a:t>
            </a:r>
            <a:endParaRPr lang="en-US" sz="1050" dirty="0"/>
          </a:p>
        </p:txBody>
      </p:sp>
      <p:sp>
        <p:nvSpPr>
          <p:cNvPr id="16" name="Card"/>
          <p:cNvSpPr/>
          <p:nvPr/>
        </p:nvSpPr>
        <p:spPr>
          <a:xfrm>
            <a:off x="4338218" y="3977640"/>
            <a:ext cx="3515258" cy="1874520"/>
          </a:xfrm>
          <a:prstGeom prst="roundRect">
            <a:avLst>
              <a:gd name="adj" fmla="val 5366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pic>
        <p:nvPicPr>
          <p:cNvPr id="17" name="Image 5" descr="Volt Streaming log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9698" y="4297680"/>
            <a:ext cx="565785" cy="73152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4749698" y="5394960"/>
            <a:ext cx="29666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Mark: once the name is on the page</a:t>
            </a:r>
            <a:endParaRPr lang="en-US" sz="1050" dirty="0"/>
          </a:p>
        </p:txBody>
      </p:sp>
      <p:sp>
        <p:nvSpPr>
          <p:cNvPr id="19" name="Card"/>
          <p:cNvSpPr/>
          <p:nvPr/>
        </p:nvSpPr>
        <p:spPr>
          <a:xfrm>
            <a:off x="8127797" y="3977640"/>
            <a:ext cx="3515258" cy="1874520"/>
          </a:xfrm>
          <a:prstGeom prst="roundRect">
            <a:avLst>
              <a:gd name="adj" fmla="val 5366"/>
            </a:avLst>
          </a:prstGeom>
          <a:solidFill>
            <a:srgbClr val="F6F8FC"/>
          </a:solidFill>
          <a:ln w="9525">
            <a:solidFill>
              <a:srgbClr val="DFE4EE"/>
            </a:solidFill>
            <a:prstDash val="solid"/>
          </a:ln>
        </p:spPr>
      </p:sp>
      <p:pic>
        <p:nvPicPr>
          <p:cNvPr id="20" name="Image 6" descr="Volt Streaming log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9277" y="4544568"/>
            <a:ext cx="2598821" cy="329184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8539277" y="5394960"/>
            <a:ext cx="29666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Paper: documents and print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LOGO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Clear space and minimum sizes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828800"/>
            <a:ext cx="6400800" cy="4069080"/>
          </a:xfrm>
          <a:prstGeom prst="roundRect">
            <a:avLst>
              <a:gd name="adj" fmla="val 2472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4458" y="3143731"/>
            <a:ext cx="5229165" cy="1320345"/>
          </a:xfrm>
          <a:prstGeom prst="rect">
            <a:avLst/>
          </a:prstGeom>
          <a:solidFill>
            <a:srgbClr val="5569F2">
              <a:alpha val="10000"/>
            </a:srgbClr>
          </a:solidFill>
          <a:ln w="9525">
            <a:solidFill>
              <a:srgbClr val="8B9CFF"/>
            </a:solidFill>
            <a:prstDash val="dash"/>
          </a:ln>
        </p:spPr>
      </p:sp>
      <p:pic>
        <p:nvPicPr>
          <p:cNvPr id="6" name="Image 0" descr="Volt Streamin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1166" y="3520440"/>
            <a:ext cx="4475747" cy="5669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34458" y="3143731"/>
            <a:ext cx="376709" cy="376709"/>
          </a:xfrm>
          <a:prstGeom prst="rect">
            <a:avLst/>
          </a:prstGeom>
          <a:ln w="6350">
            <a:solidFill>
              <a:srgbClr val="8B9C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34458" y="3143731"/>
            <a:ext cx="376709" cy="376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CFF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V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5349240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space on every side equals the height of the capital V. Nothing enters it.</a:t>
            </a:r>
            <a:endParaRPr lang="en-US" sz="1050" dirty="0"/>
          </a:p>
        </p:txBody>
      </p:sp>
      <p:sp>
        <p:nvSpPr>
          <p:cNvPr id="10" name="Card"/>
          <p:cNvSpPr/>
          <p:nvPr/>
        </p:nvSpPr>
        <p:spPr>
          <a:xfrm>
            <a:off x="7223760" y="1828800"/>
            <a:ext cx="4419295" cy="914400"/>
          </a:xfrm>
          <a:prstGeom prst="roundRect">
            <a:avLst>
              <a:gd name="adj" fmla="val 11000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pic>
        <p:nvPicPr>
          <p:cNvPr id="11" name="Image 1" descr="Volt Streaming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237933"/>
            <a:ext cx="758952" cy="9613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778240" y="2029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Full lockup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778240" y="23317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120px · 30mm</a:t>
            </a:r>
            <a:endParaRPr lang="en-US" sz="950" dirty="0"/>
          </a:p>
        </p:txBody>
      </p:sp>
      <p:sp>
        <p:nvSpPr>
          <p:cNvPr id="14" name="Card"/>
          <p:cNvSpPr/>
          <p:nvPr/>
        </p:nvSpPr>
        <p:spPr>
          <a:xfrm>
            <a:off x="7223760" y="2871216"/>
            <a:ext cx="4419295" cy="914400"/>
          </a:xfrm>
          <a:prstGeom prst="roundRect">
            <a:avLst>
              <a:gd name="adj" fmla="val 11000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pic>
        <p:nvPicPr>
          <p:cNvPr id="15" name="Image 2" descr="Volt Streaming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268401"/>
            <a:ext cx="402336" cy="12003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778240" y="30723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Short lockup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8778240" y="33741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64px · 16mm</a:t>
            </a:r>
            <a:endParaRPr lang="en-US" sz="950" dirty="0"/>
          </a:p>
        </p:txBody>
      </p:sp>
      <p:sp>
        <p:nvSpPr>
          <p:cNvPr id="18" name="Card"/>
          <p:cNvSpPr/>
          <p:nvPr/>
        </p:nvSpPr>
        <p:spPr>
          <a:xfrm>
            <a:off x="7223760" y="3913632"/>
            <a:ext cx="4419295" cy="914400"/>
          </a:xfrm>
          <a:prstGeom prst="roundRect">
            <a:avLst>
              <a:gd name="adj" fmla="val 11000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pic>
        <p:nvPicPr>
          <p:cNvPr id="19" name="Image 3" descr="Volt Streaming log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302252"/>
            <a:ext cx="106085" cy="1371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77824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Mark alone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8778240" y="44165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16px</a:t>
            </a:r>
            <a:endParaRPr lang="en-US" sz="950" dirty="0"/>
          </a:p>
        </p:txBody>
      </p:sp>
      <p:sp>
        <p:nvSpPr>
          <p:cNvPr id="22" name="Card"/>
          <p:cNvSpPr/>
          <p:nvPr/>
        </p:nvSpPr>
        <p:spPr>
          <a:xfrm>
            <a:off x="7223760" y="4956048"/>
            <a:ext cx="4419295" cy="914400"/>
          </a:xfrm>
          <a:prstGeom prst="roundRect">
            <a:avLst>
              <a:gd name="adj" fmla="val 11000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pic>
        <p:nvPicPr>
          <p:cNvPr id="23" name="Image 4" descr="Volt Streaming log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5335524"/>
            <a:ext cx="155448" cy="15544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778240" y="51572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Below 24px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8778240" y="54589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 the tile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LOGO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Colourways and misuse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828800"/>
            <a:ext cx="2072579" cy="1417320"/>
          </a:xfrm>
          <a:prstGeom prst="roundRect">
            <a:avLst>
              <a:gd name="adj" fmla="val 7097"/>
            </a:avLst>
          </a:prstGeom>
          <a:solidFill>
            <a:srgbClr val="0F1218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5" name="Image 0" descr="Volt Streamin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286000"/>
            <a:ext cx="1706819" cy="21619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852928"/>
            <a:ext cx="17068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Control room</a:t>
            </a:r>
            <a:endParaRPr lang="en-US" sz="1050" dirty="0"/>
          </a:p>
        </p:txBody>
      </p:sp>
      <p:sp>
        <p:nvSpPr>
          <p:cNvPr id="7" name="Card"/>
          <p:cNvSpPr/>
          <p:nvPr/>
        </p:nvSpPr>
        <p:spPr>
          <a:xfrm>
            <a:off x="2804099" y="1828800"/>
            <a:ext cx="2072579" cy="1417320"/>
          </a:xfrm>
          <a:prstGeom prst="roundRect">
            <a:avLst>
              <a:gd name="adj" fmla="val 7097"/>
            </a:avLst>
          </a:prstGeom>
          <a:solidFill>
            <a:srgbClr val="F6F8FC"/>
          </a:solidFill>
          <a:ln w="9525">
            <a:solidFill>
              <a:srgbClr val="DFE4EE"/>
            </a:solidFill>
            <a:prstDash val="solid"/>
          </a:ln>
        </p:spPr>
      </p:sp>
      <p:pic>
        <p:nvPicPr>
          <p:cNvPr id="8" name="Image 1" descr="Volt Streaming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979" y="2286000"/>
            <a:ext cx="1706819" cy="21619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986979" y="2852928"/>
            <a:ext cx="17068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Paper</a:t>
            </a:r>
            <a:endParaRPr lang="en-US" sz="1050" dirty="0"/>
          </a:p>
        </p:txBody>
      </p:sp>
      <p:sp>
        <p:nvSpPr>
          <p:cNvPr id="10" name="Card"/>
          <p:cNvSpPr/>
          <p:nvPr/>
        </p:nvSpPr>
        <p:spPr>
          <a:xfrm>
            <a:off x="5059558" y="1828800"/>
            <a:ext cx="2072579" cy="1417320"/>
          </a:xfrm>
          <a:prstGeom prst="roundRect">
            <a:avLst>
              <a:gd name="adj" fmla="val 7097"/>
            </a:avLst>
          </a:prstGeom>
          <a:solidFill>
            <a:srgbClr val="FFFFFF"/>
          </a:solidFill>
          <a:ln w="9525">
            <a:solidFill>
              <a:srgbClr val="DFE4EE"/>
            </a:solidFill>
            <a:prstDash val="solid"/>
          </a:ln>
        </p:spPr>
      </p:sp>
      <p:pic>
        <p:nvPicPr>
          <p:cNvPr id="11" name="Image 2" descr="Volt Streaming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2438" y="2286000"/>
            <a:ext cx="1706819" cy="21619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42438" y="2852928"/>
            <a:ext cx="17068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Solid, no gradient</a:t>
            </a:r>
            <a:endParaRPr lang="en-US" sz="1050" dirty="0"/>
          </a:p>
        </p:txBody>
      </p:sp>
      <p:sp>
        <p:nvSpPr>
          <p:cNvPr id="13" name="Card"/>
          <p:cNvSpPr/>
          <p:nvPr/>
        </p:nvSpPr>
        <p:spPr>
          <a:xfrm>
            <a:off x="7315017" y="1828800"/>
            <a:ext cx="2072579" cy="1417320"/>
          </a:xfrm>
          <a:prstGeom prst="roundRect">
            <a:avLst>
              <a:gd name="adj" fmla="val 7097"/>
            </a:avLst>
          </a:prstGeom>
          <a:solidFill>
            <a:srgbClr val="FFFFFF"/>
          </a:solidFill>
          <a:ln w="9525">
            <a:solidFill>
              <a:srgbClr val="DFE4EE"/>
            </a:solidFill>
            <a:prstDash val="solid"/>
          </a:ln>
        </p:spPr>
      </p:sp>
      <p:pic>
        <p:nvPicPr>
          <p:cNvPr id="14" name="Image 3" descr="Volt Streaming log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7897" y="2286000"/>
            <a:ext cx="1706819" cy="21619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497897" y="2852928"/>
            <a:ext cx="17068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colour, ink</a:t>
            </a:r>
            <a:endParaRPr lang="en-US" sz="1050" dirty="0"/>
          </a:p>
        </p:txBody>
      </p:sp>
      <p:sp>
        <p:nvSpPr>
          <p:cNvPr id="16" name="Volt blend block"/>
          <p:cNvSpPr/>
          <p:nvPr/>
        </p:nvSpPr>
        <p:spPr>
          <a:xfrm>
            <a:off x="9570476" y="1828800"/>
            <a:ext cx="2072579" cy="1417320"/>
          </a:xfrm>
          <a:prstGeom prst="roundRect">
            <a:avLst>
              <a:gd name="adj" fmla="val 7097"/>
            </a:avLst>
          </a:prstGeom>
          <a:gradFill rotWithShape="1">
            <a:gsLst>
              <a:gs pos="0">
                <a:srgbClr val="5B8CFF"/>
              </a:gs>
              <a:gs pos="100000">
                <a:srgbClr val="4F46E5"/>
              </a:gs>
            </a:gsLst>
            <a:lin ang="3000000" scaled="0"/>
          </a:gradFill>
          <a:ln/>
        </p:spPr>
      </p:sp>
      <p:pic>
        <p:nvPicPr>
          <p:cNvPr id="17" name="Image 4" descr="Volt Streaming log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3356" y="2286000"/>
            <a:ext cx="1706819" cy="216197"/>
          </a:xfrm>
          <a:prstGeom prst="roundRect">
            <a:avLst>
              <a:gd name="adj" fmla="val 2200"/>
            </a:avLst>
          </a:prstGeom>
        </p:spPr>
      </p:pic>
      <p:sp>
        <p:nvSpPr>
          <p:cNvPr id="18" name="Text 11"/>
          <p:cNvSpPr txBox="1"/>
          <p:nvPr/>
        </p:nvSpPr>
        <p:spPr>
          <a:xfrm>
            <a:off x="9753356" y="2852928"/>
            <a:ext cx="17068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colour, white</a:t>
            </a:r>
            <a:endParaRPr lang="en-US" sz="1050" dirty="0"/>
          </a:p>
        </p:txBody>
      </p:sp>
      <p:sp>
        <p:nvSpPr>
          <p:cNvPr id="19" name="Text 12"/>
          <p:cNvSpPr txBox="1"/>
          <p:nvPr/>
        </p:nvSpPr>
        <p:spPr>
          <a:xfrm>
            <a:off x="548640" y="3566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98A1B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DO NOT</a:t>
            </a:r>
            <a:endParaRPr lang="en-US" sz="1000" dirty="0"/>
          </a:p>
        </p:txBody>
      </p:sp>
      <p:sp>
        <p:nvSpPr>
          <p:cNvPr id="20" name="Card"/>
          <p:cNvSpPr/>
          <p:nvPr/>
        </p:nvSpPr>
        <p:spPr>
          <a:xfrm>
            <a:off x="548640" y="3886200"/>
            <a:ext cx="2072579" cy="1463040"/>
          </a:xfrm>
          <a:prstGeom prst="roundRect">
            <a:avLst>
              <a:gd name="adj" fmla="val 6875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sp>
        <p:nvSpPr>
          <p:cNvPr id="21" name="Card"/>
          <p:cNvSpPr/>
          <p:nvPr/>
        </p:nvSpPr>
        <p:spPr>
          <a:xfrm>
            <a:off x="2804099" y="3886200"/>
            <a:ext cx="2072579" cy="1463040"/>
          </a:xfrm>
          <a:prstGeom prst="roundRect">
            <a:avLst>
              <a:gd name="adj" fmla="val 6875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sp>
        <p:nvSpPr>
          <p:cNvPr id="22" name="Card"/>
          <p:cNvSpPr/>
          <p:nvPr/>
        </p:nvSpPr>
        <p:spPr>
          <a:xfrm>
            <a:off x="5059558" y="3886200"/>
            <a:ext cx="2072579" cy="1463040"/>
          </a:xfrm>
          <a:prstGeom prst="roundRect">
            <a:avLst>
              <a:gd name="adj" fmla="val 6875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sp>
        <p:nvSpPr>
          <p:cNvPr id="23" name="Card"/>
          <p:cNvSpPr/>
          <p:nvPr/>
        </p:nvSpPr>
        <p:spPr>
          <a:xfrm>
            <a:off x="7315017" y="3886200"/>
            <a:ext cx="2072579" cy="1463040"/>
          </a:xfrm>
          <a:prstGeom prst="roundRect">
            <a:avLst>
              <a:gd name="adj" fmla="val 6875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sp>
        <p:nvSpPr>
          <p:cNvPr id="24" name="Card"/>
          <p:cNvSpPr/>
          <p:nvPr/>
        </p:nvSpPr>
        <p:spPr>
          <a:xfrm>
            <a:off x="9570476" y="3886200"/>
            <a:ext cx="2072579" cy="1463040"/>
          </a:xfrm>
          <a:prstGeom prst="roundRect">
            <a:avLst>
              <a:gd name="adj" fmla="val 6875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pic>
        <p:nvPicPr>
          <p:cNvPr id="25" name="Image 5" descr="/tmp/claude-0/-home-claude/1f4339df-fb00-509e-93e4-fe12d7533144/scratchpad/repo/brand/logos/png/volt-lockup-on-dark@1200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270248"/>
            <a:ext cx="1706819" cy="384048"/>
          </a:xfrm>
          <a:prstGeom prst="rect">
            <a:avLst/>
          </a:prstGeom>
        </p:spPr>
      </p:pic>
      <p:pic>
        <p:nvPicPr>
          <p:cNvPr id="26" name="Image 6" descr="/tmp/claude-0/-home-claude/1f4339df-fb00-509e-93e4-fe12d7533144/scratchpad/repo/brand/logos/png/volt-lockup-on-dark@1200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720000">
            <a:off x="2986979" y="4343400"/>
            <a:ext cx="1706819" cy="216197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5711800" y="4069080"/>
            <a:ext cx="768096" cy="768096"/>
          </a:xfrm>
          <a:prstGeom prst="ellipse">
            <a:avLst/>
          </a:prstGeom>
          <a:solidFill>
            <a:srgbClr val="212736"/>
          </a:solidFill>
          <a:ln w="19050">
            <a:solidFill>
              <a:srgbClr val="5569F2"/>
            </a:solidFill>
            <a:prstDash val="solid"/>
          </a:ln>
        </p:spPr>
      </p:sp>
      <p:pic>
        <p:nvPicPr>
          <p:cNvPr id="28" name="Image 7" descr="Volt Streaming log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9897" y="4251960"/>
            <a:ext cx="311182" cy="402336"/>
          </a:xfrm>
          <a:prstGeom prst="rect">
            <a:avLst/>
          </a:prstGeom>
        </p:spPr>
      </p:pic>
      <p:pic>
        <p:nvPicPr>
          <p:cNvPr id="29" name="Image 8" descr="Volt Streaming logo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43617" y="4270248"/>
            <a:ext cx="254603" cy="329184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7863657" y="4251960"/>
            <a:ext cx="14324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9ECF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Volt Streaming</a:t>
            </a:r>
            <a:endParaRPr lang="en-US" sz="1900" dirty="0"/>
          </a:p>
        </p:txBody>
      </p:sp>
      <p:pic>
        <p:nvPicPr>
          <p:cNvPr id="31" name="Image 9" descr="/tmp/claude-0/-home-claude/1f4339df-fb00-509e-93e4-fe12d7533144/scratchpad/office/work/img/multiview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680204" y="3995928"/>
            <a:ext cx="1853123" cy="960120"/>
          </a:xfrm>
          <a:prstGeom prst="rect">
            <a:avLst/>
          </a:prstGeom>
        </p:spPr>
      </p:pic>
      <p:pic>
        <p:nvPicPr>
          <p:cNvPr id="32" name="Image 10" descr="Volt Streaming logo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99076" y="4361688"/>
            <a:ext cx="1615379" cy="204615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731520" y="5029200"/>
            <a:ext cx="17068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Stretch or squash</a:t>
            </a:r>
            <a:endParaRPr lang="en-US" sz="1050" dirty="0"/>
          </a:p>
        </p:txBody>
      </p:sp>
      <p:sp>
        <p:nvSpPr>
          <p:cNvPr id="34" name="Text 21"/>
          <p:cNvSpPr txBox="1"/>
          <p:nvPr/>
        </p:nvSpPr>
        <p:spPr>
          <a:xfrm>
            <a:off x="2986979" y="5029200"/>
            <a:ext cx="17068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Rotate</a:t>
            </a:r>
            <a:endParaRPr lang="en-US" sz="1050" dirty="0"/>
          </a:p>
        </p:txBody>
      </p:sp>
      <p:sp>
        <p:nvSpPr>
          <p:cNvPr id="35" name="Text 22"/>
          <p:cNvSpPr txBox="1"/>
          <p:nvPr/>
        </p:nvSpPr>
        <p:spPr>
          <a:xfrm>
            <a:off x="5242438" y="5029200"/>
            <a:ext cx="17068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Put it in a circle</a:t>
            </a:r>
            <a:endParaRPr lang="en-US" sz="1050" dirty="0"/>
          </a:p>
        </p:txBody>
      </p:sp>
      <p:sp>
        <p:nvSpPr>
          <p:cNvPr id="36" name="Text 23"/>
          <p:cNvSpPr txBox="1"/>
          <p:nvPr/>
        </p:nvSpPr>
        <p:spPr>
          <a:xfrm>
            <a:off x="7497897" y="5029200"/>
            <a:ext cx="17068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Retype the name</a:t>
            </a:r>
            <a:endParaRPr lang="en-US" sz="1050" dirty="0"/>
          </a:p>
        </p:txBody>
      </p:sp>
      <p:sp>
        <p:nvSpPr>
          <p:cNvPr id="37" name="Text 24"/>
          <p:cNvSpPr txBox="1"/>
          <p:nvPr/>
        </p:nvSpPr>
        <p:spPr>
          <a:xfrm>
            <a:off x="9753356" y="5029200"/>
            <a:ext cx="17068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Colour lockup on a busy image</a:t>
            </a:r>
            <a:endParaRPr lang="en-US" sz="1050" dirty="0"/>
          </a:p>
        </p:txBody>
      </p:sp>
      <p:sp>
        <p:nvSpPr>
          <p:cNvPr id="38" name="Text 25"/>
          <p:cNvSpPr txBox="1"/>
          <p:nvPr/>
        </p:nvSpPr>
        <p:spPr>
          <a:xfrm>
            <a:off x="548640" y="557784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never outline it, add a glow or shadow, recolour Streaming or split the halves apart in still artwork.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LOGO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The tile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828800"/>
            <a:ext cx="4206240" cy="4069080"/>
          </a:xfrm>
          <a:prstGeom prst="roundRect">
            <a:avLst>
              <a:gd name="adj" fmla="val 2472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pic>
        <p:nvPicPr>
          <p:cNvPr id="5" name="Image 0" descr="Volt app t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331720"/>
            <a:ext cx="2560320" cy="2560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54406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738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volt-tile@512.png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512064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Corners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132320" y="1828800"/>
            <a:ext cx="4510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10/34 of the tile width.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120640" y="24323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Light from above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432304"/>
            <a:ext cx="4510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soft white highlight that fades out by the middle, a slight indigo shade at the base.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120640" y="3035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Edge and mark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132320" y="3035808"/>
            <a:ext cx="4510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1px light inner edge and a soft shadow under the white mark.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120640" y="3639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Shadow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132320" y="3639312"/>
            <a:ext cx="4510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the tile use shadow-tile, a neutral shadow. Never a coloured glow.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120640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Print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132320" y="4242816"/>
            <a:ext cx="4510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volt-tile-flat drops the lighting for print and EPS.</a:t>
            </a:r>
            <a:endParaRPr lang="en-US" sz="1200" dirty="0"/>
          </a:p>
        </p:txBody>
      </p:sp>
      <p:pic>
        <p:nvPicPr>
          <p:cNvPr id="17" name="Image 1" descr="/tmp/claude-0/-home-claude/1f4339df-fb00-509e-93e4-fe12d7533144/scratchpad/repo/brand/logos/app-icon/volt-tile-102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4754880"/>
            <a:ext cx="868680" cy="86868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029200" y="568756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1024</a:t>
            </a:r>
            <a:endParaRPr lang="en-US" sz="950" dirty="0"/>
          </a:p>
        </p:txBody>
      </p:sp>
      <p:pic>
        <p:nvPicPr>
          <p:cNvPr id="19" name="Image 2" descr="/tmp/claude-0/-home-claude/1f4339df-fb00-509e-93e4-fe12d7533144/scratchpad/repo/brand/logos/app-icon/volt-tile-51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4937760"/>
            <a:ext cx="685800" cy="6858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281928" y="568756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512</a:t>
            </a:r>
            <a:endParaRPr lang="en-US" sz="950" dirty="0"/>
          </a:p>
        </p:txBody>
      </p:sp>
      <p:pic>
        <p:nvPicPr>
          <p:cNvPr id="21" name="Image 3" descr="/tmp/claude-0/-home-claude/1f4339df-fb00-509e-93e4-fe12d7533144/scratchpad/repo/brand/logos/app-icon/volt-tile-19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512064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51776" y="568756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192</a:t>
            </a:r>
            <a:endParaRPr lang="en-US" sz="950" dirty="0"/>
          </a:p>
        </p:txBody>
      </p:sp>
      <p:pic>
        <p:nvPicPr>
          <p:cNvPr id="23" name="Image 4" descr="/tmp/claude-0/-home-claude/1f4339df-fb00-509e-93e4-fe12d7533144/scratchpad/repo/brand/logos/app-icon/volt-tile-6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0184" y="525780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238744" y="568756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64</a:t>
            </a:r>
            <a:endParaRPr lang="en-US" sz="950" dirty="0"/>
          </a:p>
        </p:txBody>
      </p:sp>
      <p:pic>
        <p:nvPicPr>
          <p:cNvPr id="25" name="Image 5" descr="/tmp/claude-0/-home-claude/1f4339df-fb00-509e-93e4-fe12d7533144/scratchpad/repo/brand/logos/app-icon/volt-tile-3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992" y="5385816"/>
            <a:ext cx="237744" cy="23774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988552" y="568756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32</a:t>
            </a:r>
            <a:endParaRPr lang="en-US" sz="950" dirty="0"/>
          </a:p>
        </p:txBody>
      </p:sp>
      <p:pic>
        <p:nvPicPr>
          <p:cNvPr id="27" name="Image 6" descr="/tmp/claude-0/-home-claude/1f4339df-fb00-509e-93e4-fe12d7533144/scratchpad/repo/brand/logos/app-icon/volt-tile-1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1784" y="5477256"/>
            <a:ext cx="146304" cy="146304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9610344" y="568756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</a:t>
            </a:r>
            <a:endParaRPr lang="en-US" sz="950" dirty="0"/>
          </a:p>
        </p:txBody>
      </p:sp>
      <p:pic>
        <p:nvPicPr>
          <p:cNvPr id="29" name="Image 7" descr="/tmp/claude-0/-home-claude/1f4339df-fb00-509e-93e4-fe12d7533144/scratchpad/repo/brand/logos/png/volt-tile-flat@51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74375" y="4754880"/>
            <a:ext cx="868680" cy="86868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10774375" y="568756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flat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COLOUR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The Volt blend is the primary colour</a:t>
            </a:r>
            <a:endParaRPr lang="en-US" sz="3400" dirty="0"/>
          </a:p>
        </p:txBody>
      </p:sp>
      <p:sp>
        <p:nvSpPr>
          <p:cNvPr id="4" name="Volt blend block"/>
          <p:cNvSpPr/>
          <p:nvPr/>
        </p:nvSpPr>
        <p:spPr>
          <a:xfrm>
            <a:off x="548640" y="1828800"/>
            <a:ext cx="5120640" cy="2377440"/>
          </a:xfrm>
          <a:prstGeom prst="roundRect">
            <a:avLst>
              <a:gd name="adj" fmla="val 4231"/>
            </a:avLst>
          </a:prstGeom>
          <a:gradFill rotWithShape="1">
            <a:gsLst>
              <a:gs pos="0">
                <a:srgbClr val="5B8CFF"/>
              </a:gs>
              <a:gs pos="100000">
                <a:srgbClr val="4F46E5"/>
              </a:gs>
            </a:gsLst>
            <a:lin ang="3000000" scaled="0"/>
          </a:gradFill>
          <a:ln/>
        </p:spPr>
      </p:sp>
      <p:sp>
        <p:nvSpPr>
          <p:cNvPr id="5" name="Text 3"/>
          <p:cNvSpPr txBox="1"/>
          <p:nvPr/>
        </p:nvSpPr>
        <p:spPr>
          <a:xfrm>
            <a:off x="548640" y="4343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Volt blend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63600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volt-start #5B8CFF </a:t>
            </a:r>
            <a:pPr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volt-end #4F46E5 · 140°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919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the mark, the app tile and one hero block per layout. Never behind body text, never a page background.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35040" y="1828800"/>
            <a:ext cx="822960" cy="502920"/>
          </a:xfrm>
          <a:prstGeom prst="roundRect">
            <a:avLst>
              <a:gd name="adj" fmla="val 12727"/>
            </a:avLst>
          </a:prstGeom>
          <a:solidFill>
            <a:srgbClr val="5569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040880" y="18196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volt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20848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#5569F2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418320" y="1847088"/>
            <a:ext cx="2224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Icons, single-colour marks, focus ring, first chart series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2450592"/>
            <a:ext cx="822960" cy="502920"/>
          </a:xfrm>
          <a:prstGeom prst="roundRect">
            <a:avLst>
              <a:gd name="adj" fmla="val 12727"/>
            </a:avLst>
          </a:prstGeom>
          <a:solidFill>
            <a:srgbClr val="4F46E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040880" y="24414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volt-strong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70662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#4F46E5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9418320" y="2468880"/>
            <a:ext cx="2224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Buttons and filled tags, with white text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3072384"/>
            <a:ext cx="822960" cy="502920"/>
          </a:xfrm>
          <a:prstGeom prst="roundRect">
            <a:avLst>
              <a:gd name="adj" fmla="val 12727"/>
            </a:avLst>
          </a:prstGeom>
          <a:solidFill>
            <a:srgbClr val="8B9C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40880" y="3063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volt-text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33284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#8B9CFF · Paper #4F46E5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418320" y="3090672"/>
            <a:ext cx="2224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Eyebrows and links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3694176"/>
            <a:ext cx="822960" cy="502920"/>
          </a:xfrm>
          <a:prstGeom prst="roundRect">
            <a:avLst>
              <a:gd name="adj" fmla="val 12727"/>
            </a:avLst>
          </a:prstGeom>
          <a:solidFill>
            <a:srgbClr val="9A9D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040880" y="3685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current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39502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#9A9DFF · Paper #4F46E5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9418320" y="3712464"/>
            <a:ext cx="2224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 in the wordmark, second series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4434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98A1B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PROPORTION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4754880"/>
            <a:ext cx="3364809" cy="384048"/>
          </a:xfrm>
          <a:prstGeom prst="rect">
            <a:avLst/>
          </a:prstGeom>
          <a:solidFill>
            <a:srgbClr val="0F1218"/>
          </a:solidFill>
          <a:ln w="6350">
            <a:solidFill>
              <a:srgbClr val="2A2E3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035040" y="5230368"/>
            <a:ext cx="33648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60% ground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99849" y="4754880"/>
            <a:ext cx="1402004" cy="384048"/>
          </a:xfrm>
          <a:prstGeom prst="rect">
            <a:avLst/>
          </a:prstGeom>
          <a:solidFill>
            <a:srgbClr val="212736"/>
          </a:solidFill>
          <a:ln w="6350">
            <a:solidFill>
              <a:srgbClr val="2A2E3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399849" y="5230368"/>
            <a:ext cx="14020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25% panels and ink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801853" y="4754880"/>
            <a:ext cx="560802" cy="384048"/>
          </a:xfrm>
          <a:prstGeom prst="rect">
            <a:avLst/>
          </a:prstGeom>
          <a:solidFill>
            <a:srgbClr val="5569F2"/>
          </a:solidFill>
          <a:ln w="6350">
            <a:solidFill>
              <a:srgbClr val="2A2E3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801853" y="5230368"/>
            <a:ext cx="5608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1362654" y="4754880"/>
            <a:ext cx="280401" cy="384048"/>
          </a:xfrm>
          <a:prstGeom prst="rect">
            <a:avLst/>
          </a:prstGeom>
          <a:solidFill>
            <a:srgbClr val="9A9DFF"/>
          </a:solidFill>
          <a:ln w="6350">
            <a:solidFill>
              <a:srgbClr val="2A2E3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1362654" y="52303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5%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035040" y="553212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 ground, 25% panels and ink, 10% Volt, 5% current and status. More Volt than that and it stops meaning anything.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COLOUR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Two themes, one set of names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783080"/>
            <a:ext cx="11094415" cy="1993392"/>
          </a:xfrm>
          <a:prstGeom prst="roundRect">
            <a:avLst>
              <a:gd name="adj" fmla="val 5046"/>
            </a:avLst>
          </a:prstGeom>
          <a:solidFill>
            <a:srgbClr val="0F1218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98A1B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CONTROL ROOM · DARK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2258568"/>
            <a:ext cx="1074217" cy="457200"/>
          </a:xfrm>
          <a:prstGeom prst="roundRect">
            <a:avLst>
              <a:gd name="adj" fmla="val 12000"/>
            </a:avLst>
          </a:prstGeom>
          <a:solidFill>
            <a:srgbClr val="0F1218"/>
          </a:solidFill>
          <a:ln w="6350">
            <a:solidFill>
              <a:srgbClr val="3A41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770632"/>
            <a:ext cx="10742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ground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53512"/>
            <a:ext cx="1074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#0F1218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06905" y="2258568"/>
            <a:ext cx="1074217" cy="457200"/>
          </a:xfrm>
          <a:prstGeom prst="roundRect">
            <a:avLst>
              <a:gd name="adj" fmla="val 12000"/>
            </a:avLst>
          </a:prstGeom>
          <a:solidFill>
            <a:srgbClr val="171B24"/>
          </a:solidFill>
          <a:ln w="6350">
            <a:solidFill>
              <a:srgbClr val="3A41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06905" y="2770632"/>
            <a:ext cx="10742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panel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006905" y="2953512"/>
            <a:ext cx="1074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#171B24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90850" y="2258568"/>
            <a:ext cx="1074217" cy="457200"/>
          </a:xfrm>
          <a:prstGeom prst="roundRect">
            <a:avLst>
              <a:gd name="adj" fmla="val 12000"/>
            </a:avLst>
          </a:prstGeom>
          <a:solidFill>
            <a:srgbClr val="1C2130"/>
          </a:solidFill>
          <a:ln w="6350">
            <a:solidFill>
              <a:srgbClr val="3A415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90850" y="2770632"/>
            <a:ext cx="10742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panel-2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190850" y="2953512"/>
            <a:ext cx="1074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#1C2130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74794" y="2258568"/>
            <a:ext cx="1074217" cy="457200"/>
          </a:xfrm>
          <a:prstGeom prst="roundRect">
            <a:avLst>
              <a:gd name="adj" fmla="val 12000"/>
            </a:avLst>
          </a:prstGeom>
          <a:solidFill>
            <a:srgbClr val="212736"/>
          </a:solidFill>
          <a:ln w="6350">
            <a:solidFill>
              <a:srgbClr val="3A415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74794" y="2770632"/>
            <a:ext cx="10742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panel-3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374794" y="2953512"/>
            <a:ext cx="1074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#212736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58739" y="2258568"/>
            <a:ext cx="1074217" cy="457200"/>
          </a:xfrm>
          <a:prstGeom prst="roundRect">
            <a:avLst>
              <a:gd name="adj" fmla="val 12000"/>
            </a:avLst>
          </a:prstGeom>
          <a:solidFill>
            <a:srgbClr val="22262E"/>
          </a:solidFill>
          <a:ln w="6350">
            <a:solidFill>
              <a:srgbClr val="3A415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58739" y="2770632"/>
            <a:ext cx="10742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line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558739" y="2953512"/>
            <a:ext cx="1074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#22262E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42684" y="2258568"/>
            <a:ext cx="1074217" cy="457200"/>
          </a:xfrm>
          <a:prstGeom prst="roundRect">
            <a:avLst>
              <a:gd name="adj" fmla="val 12000"/>
            </a:avLst>
          </a:prstGeom>
          <a:solidFill>
            <a:srgbClr val="2A2E37"/>
          </a:solidFill>
          <a:ln w="6350">
            <a:solidFill>
              <a:srgbClr val="3A415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42684" y="2770632"/>
            <a:ext cx="10742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line-strong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742684" y="2953512"/>
            <a:ext cx="1074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#2A2E37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926629" y="2258568"/>
            <a:ext cx="1074217" cy="457200"/>
          </a:xfrm>
          <a:prstGeom prst="roundRect">
            <a:avLst>
              <a:gd name="adj" fmla="val 12000"/>
            </a:avLst>
          </a:prstGeom>
          <a:solidFill>
            <a:srgbClr val="E9ECF4"/>
          </a:solidFill>
          <a:ln w="6350">
            <a:solidFill>
              <a:srgbClr val="3A415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26629" y="2770632"/>
            <a:ext cx="10742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ink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926629" y="2953512"/>
            <a:ext cx="1074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#E9ECF4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110574" y="2258568"/>
            <a:ext cx="1074217" cy="457200"/>
          </a:xfrm>
          <a:prstGeom prst="roundRect">
            <a:avLst>
              <a:gd name="adj" fmla="val 12000"/>
            </a:avLst>
          </a:prstGeom>
          <a:solidFill>
            <a:srgbClr val="98A1B6"/>
          </a:solidFill>
          <a:ln w="6350">
            <a:solidFill>
              <a:srgbClr val="3A415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10574" y="2770632"/>
            <a:ext cx="10742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ink-muted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110574" y="2953512"/>
            <a:ext cx="1074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#98A1B6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0294518" y="2258568"/>
            <a:ext cx="1074217" cy="457200"/>
          </a:xfrm>
          <a:prstGeom prst="roundRect">
            <a:avLst>
              <a:gd name="adj" fmla="val 12000"/>
            </a:avLst>
          </a:prstGeom>
          <a:solidFill>
            <a:srgbClr val="6A7387"/>
          </a:solidFill>
          <a:ln w="6350">
            <a:solidFill>
              <a:srgbClr val="3A415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94518" y="2770632"/>
            <a:ext cx="10742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ink-faint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294518" y="2953512"/>
            <a:ext cx="1074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#6A7387</a:t>
            </a:r>
            <a:endParaRPr lang="en-US" sz="950" dirty="0"/>
          </a:p>
        </p:txBody>
      </p:sp>
      <p:sp>
        <p:nvSpPr>
          <p:cNvPr id="33" name="Status pill On air"/>
          <p:cNvSpPr/>
          <p:nvPr/>
        </p:nvSpPr>
        <p:spPr>
          <a:xfrm>
            <a:off x="822960" y="3310128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4ADE80">
              <a:alpha val="16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941832" y="3410712"/>
            <a:ext cx="73152" cy="73152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69848" y="331012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4ADE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ON AIR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1746504" y="33467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#4ADE80</a:t>
            </a:r>
            <a:endParaRPr lang="en-US" sz="950" dirty="0"/>
          </a:p>
        </p:txBody>
      </p:sp>
      <p:sp>
        <p:nvSpPr>
          <p:cNvPr id="37" name="Status pill Scheduled"/>
          <p:cNvSpPr/>
          <p:nvPr/>
        </p:nvSpPr>
        <p:spPr>
          <a:xfrm>
            <a:off x="2450592" y="3310128"/>
            <a:ext cx="1083564" cy="274320"/>
          </a:xfrm>
          <a:prstGeom prst="roundRect">
            <a:avLst>
              <a:gd name="adj" fmla="val 50000"/>
            </a:avLst>
          </a:prstGeom>
          <a:solidFill>
            <a:srgbClr val="38BDF8">
              <a:alpha val="16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569464" y="3410712"/>
            <a:ext cx="73152" cy="7315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2697480" y="3310128"/>
            <a:ext cx="80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38BDF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SCHEDULED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3607308" y="33467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#38BDF8</a:t>
            </a:r>
            <a:endParaRPr lang="en-US" sz="950" dirty="0"/>
          </a:p>
        </p:txBody>
      </p:sp>
      <p:sp>
        <p:nvSpPr>
          <p:cNvPr id="41" name="Status pill Degraded"/>
          <p:cNvSpPr/>
          <p:nvPr/>
        </p:nvSpPr>
        <p:spPr>
          <a:xfrm>
            <a:off x="4311396" y="3310128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BBF24">
              <a:alpha val="16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430268" y="3410712"/>
            <a:ext cx="73152" cy="7315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558284" y="33101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FBBF2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DEGRADED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5390388" y="33467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#FBBF24</a:t>
            </a:r>
            <a:endParaRPr lang="en-US" sz="950" dirty="0"/>
          </a:p>
        </p:txBody>
      </p:sp>
      <p:sp>
        <p:nvSpPr>
          <p:cNvPr id="45" name="Status pill Error"/>
          <p:cNvSpPr/>
          <p:nvPr/>
        </p:nvSpPr>
        <p:spPr>
          <a:xfrm>
            <a:off x="6094476" y="3310128"/>
            <a:ext cx="772668" cy="274320"/>
          </a:xfrm>
          <a:prstGeom prst="roundRect">
            <a:avLst>
              <a:gd name="adj" fmla="val 50000"/>
            </a:avLst>
          </a:prstGeom>
          <a:solidFill>
            <a:srgbClr val="F87171">
              <a:alpha val="16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13348" y="3410712"/>
            <a:ext cx="73152" cy="7315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341364" y="3310128"/>
            <a:ext cx="4983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F8717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ERROR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6940296" y="33467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#F87171</a:t>
            </a:r>
            <a:endParaRPr lang="en-US" sz="950" dirty="0"/>
          </a:p>
        </p:txBody>
      </p:sp>
      <p:sp>
        <p:nvSpPr>
          <p:cNvPr id="49" name="Status pill Stopped"/>
          <p:cNvSpPr/>
          <p:nvPr/>
        </p:nvSpPr>
        <p:spPr>
          <a:xfrm>
            <a:off x="7644384" y="3310128"/>
            <a:ext cx="928116" cy="274320"/>
          </a:xfrm>
          <a:prstGeom prst="roundRect">
            <a:avLst>
              <a:gd name="adj" fmla="val 50000"/>
            </a:avLst>
          </a:prstGeom>
          <a:solidFill>
            <a:srgbClr val="66708A">
              <a:alpha val="16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763256" y="3410712"/>
            <a:ext cx="73152" cy="73152"/>
          </a:xfrm>
          <a:prstGeom prst="ellipse">
            <a:avLst/>
          </a:prstGeom>
          <a:solidFill>
            <a:srgbClr val="66708A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7891272" y="3310128"/>
            <a:ext cx="653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66708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STOPPED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8645652" y="33467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#66708A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9349740" y="3337560"/>
            <a:ext cx="20189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only, always with a word.</a:t>
            </a:r>
            <a:endParaRPr lang="en-US" sz="1050" dirty="0"/>
          </a:p>
        </p:txBody>
      </p:sp>
      <p:sp>
        <p:nvSpPr>
          <p:cNvPr id="54" name="Card"/>
          <p:cNvSpPr/>
          <p:nvPr/>
        </p:nvSpPr>
        <p:spPr>
          <a:xfrm>
            <a:off x="548640" y="3913632"/>
            <a:ext cx="11094415" cy="1993392"/>
          </a:xfrm>
          <a:prstGeom prst="roundRect">
            <a:avLst>
              <a:gd name="adj" fmla="val 5046"/>
            </a:avLst>
          </a:prstGeom>
          <a:solidFill>
            <a:srgbClr val="F6F8FC"/>
          </a:solidFill>
          <a:ln w="9525">
            <a:solidFill>
              <a:srgbClr val="DFE4E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22960" y="4096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4B5468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PAPER · LIGHT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22960" y="4389120"/>
            <a:ext cx="1074217" cy="45720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 w="6350">
            <a:solidFill>
              <a:srgbClr val="C6CEDC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22960" y="4901184"/>
            <a:ext cx="10742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21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ground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822960" y="5084064"/>
            <a:ext cx="1074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4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#F6F8FC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006905" y="4389120"/>
            <a:ext cx="1074217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C6CEDC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2006905" y="4901184"/>
            <a:ext cx="10742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21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panel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2006905" y="5084064"/>
            <a:ext cx="1074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4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#FFFFFF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190850" y="4389120"/>
            <a:ext cx="1074217" cy="4572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6350">
            <a:solidFill>
              <a:srgbClr val="C6CEDC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3190850" y="4901184"/>
            <a:ext cx="10742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21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panel-2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3190850" y="5084064"/>
            <a:ext cx="1074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4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#EEF2F8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374794" y="4389120"/>
            <a:ext cx="1074217" cy="457200"/>
          </a:xfrm>
          <a:prstGeom prst="roundRect">
            <a:avLst>
              <a:gd name="adj" fmla="val 12000"/>
            </a:avLst>
          </a:prstGeom>
          <a:solidFill>
            <a:srgbClr val="E4E9F2"/>
          </a:solidFill>
          <a:ln w="6350">
            <a:solidFill>
              <a:srgbClr val="C6CEDC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4374794" y="4901184"/>
            <a:ext cx="10742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21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panel-3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4374794" y="5084064"/>
            <a:ext cx="1074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4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#E4E9F2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558739" y="4389120"/>
            <a:ext cx="1074217" cy="457200"/>
          </a:xfrm>
          <a:prstGeom prst="roundRect">
            <a:avLst>
              <a:gd name="adj" fmla="val 12000"/>
            </a:avLst>
          </a:prstGeom>
          <a:solidFill>
            <a:srgbClr val="DFE4EE"/>
          </a:solidFill>
          <a:ln w="6350">
            <a:solidFill>
              <a:srgbClr val="C6CEDC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5558739" y="4901184"/>
            <a:ext cx="10742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21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line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5558739" y="5084064"/>
            <a:ext cx="1074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4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#DFE4EE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742684" y="4389120"/>
            <a:ext cx="1074217" cy="457200"/>
          </a:xfrm>
          <a:prstGeom prst="roundRect">
            <a:avLst>
              <a:gd name="adj" fmla="val 12000"/>
            </a:avLst>
          </a:prstGeom>
          <a:solidFill>
            <a:srgbClr val="C6CEDC"/>
          </a:solidFill>
          <a:ln w="6350">
            <a:solidFill>
              <a:srgbClr val="C6CEDC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6742684" y="4901184"/>
            <a:ext cx="10742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21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line-strong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6742684" y="5084064"/>
            <a:ext cx="1074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4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#C6CEDC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7926629" y="4389120"/>
            <a:ext cx="1074217" cy="457200"/>
          </a:xfrm>
          <a:prstGeom prst="roundRect">
            <a:avLst>
              <a:gd name="adj" fmla="val 12000"/>
            </a:avLst>
          </a:prstGeom>
          <a:solidFill>
            <a:srgbClr val="0F1218"/>
          </a:solidFill>
          <a:ln w="6350">
            <a:solidFill>
              <a:srgbClr val="C6CEDC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7926629" y="4901184"/>
            <a:ext cx="10742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21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ink</a:t>
            </a:r>
            <a:endParaRPr lang="en-US" sz="1000" dirty="0"/>
          </a:p>
        </p:txBody>
      </p:sp>
      <p:sp>
        <p:nvSpPr>
          <p:cNvPr id="76" name="Text 74"/>
          <p:cNvSpPr txBox="1"/>
          <p:nvPr/>
        </p:nvSpPr>
        <p:spPr>
          <a:xfrm>
            <a:off x="7926629" y="5084064"/>
            <a:ext cx="1074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4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#0F1218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9110574" y="4389120"/>
            <a:ext cx="1074217" cy="457200"/>
          </a:xfrm>
          <a:prstGeom prst="roundRect">
            <a:avLst>
              <a:gd name="adj" fmla="val 12000"/>
            </a:avLst>
          </a:prstGeom>
          <a:solidFill>
            <a:srgbClr val="4B5468"/>
          </a:solidFill>
          <a:ln w="6350">
            <a:solidFill>
              <a:srgbClr val="C6CEDC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9110574" y="4901184"/>
            <a:ext cx="10742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21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ink-muted</a:t>
            </a:r>
            <a:endParaRPr lang="en-US" sz="1000" dirty="0"/>
          </a:p>
        </p:txBody>
      </p:sp>
      <p:sp>
        <p:nvSpPr>
          <p:cNvPr id="79" name="Text 77"/>
          <p:cNvSpPr txBox="1"/>
          <p:nvPr/>
        </p:nvSpPr>
        <p:spPr>
          <a:xfrm>
            <a:off x="9110574" y="5084064"/>
            <a:ext cx="1074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4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#4B5468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10294518" y="4389120"/>
            <a:ext cx="1074217" cy="457200"/>
          </a:xfrm>
          <a:prstGeom prst="roundRect">
            <a:avLst>
              <a:gd name="adj" fmla="val 12000"/>
            </a:avLst>
          </a:prstGeom>
          <a:solidFill>
            <a:srgbClr val="626B80"/>
          </a:solidFill>
          <a:ln w="6350">
            <a:solidFill>
              <a:srgbClr val="C6CEDC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10294518" y="4901184"/>
            <a:ext cx="10742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21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ink-faint</a:t>
            </a:r>
            <a:endParaRPr lang="en-US" sz="1000" dirty="0"/>
          </a:p>
        </p:txBody>
      </p:sp>
      <p:sp>
        <p:nvSpPr>
          <p:cNvPr id="82" name="Text 80"/>
          <p:cNvSpPr txBox="1"/>
          <p:nvPr/>
        </p:nvSpPr>
        <p:spPr>
          <a:xfrm>
            <a:off x="10294518" y="5084064"/>
            <a:ext cx="1074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4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#626B80</a:t>
            </a:r>
            <a:endParaRPr lang="en-US" sz="950" dirty="0"/>
          </a:p>
        </p:txBody>
      </p:sp>
      <p:sp>
        <p:nvSpPr>
          <p:cNvPr id="83" name="Status pill On air"/>
          <p:cNvSpPr/>
          <p:nvPr/>
        </p:nvSpPr>
        <p:spPr>
          <a:xfrm>
            <a:off x="822960" y="544068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15803D">
              <a:alpha val="12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941832" y="5541264"/>
            <a:ext cx="73152" cy="73152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1069848" y="5440680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15803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ON AIR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1746504" y="547725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4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#15803D</a:t>
            </a:r>
            <a:endParaRPr lang="en-US" sz="950" dirty="0"/>
          </a:p>
        </p:txBody>
      </p:sp>
      <p:sp>
        <p:nvSpPr>
          <p:cNvPr id="87" name="Status pill Scheduled"/>
          <p:cNvSpPr/>
          <p:nvPr/>
        </p:nvSpPr>
        <p:spPr>
          <a:xfrm>
            <a:off x="2450592" y="5440680"/>
            <a:ext cx="1083564" cy="274320"/>
          </a:xfrm>
          <a:prstGeom prst="roundRect">
            <a:avLst>
              <a:gd name="adj" fmla="val 50000"/>
            </a:avLst>
          </a:prstGeom>
          <a:solidFill>
            <a:srgbClr val="0369A1">
              <a:alpha val="12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2569464" y="5541264"/>
            <a:ext cx="73152" cy="73152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2697480" y="5440680"/>
            <a:ext cx="80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0369A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SCHEDULED</a:t>
            </a:r>
            <a:endParaRPr lang="en-US" sz="950" dirty="0"/>
          </a:p>
        </p:txBody>
      </p:sp>
      <p:sp>
        <p:nvSpPr>
          <p:cNvPr id="90" name="Text 88"/>
          <p:cNvSpPr txBox="1"/>
          <p:nvPr/>
        </p:nvSpPr>
        <p:spPr>
          <a:xfrm>
            <a:off x="3607308" y="547725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4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#0369A1</a:t>
            </a:r>
            <a:endParaRPr lang="en-US" sz="950" dirty="0"/>
          </a:p>
        </p:txBody>
      </p:sp>
      <p:sp>
        <p:nvSpPr>
          <p:cNvPr id="91" name="Status pill Degraded"/>
          <p:cNvSpPr/>
          <p:nvPr/>
        </p:nvSpPr>
        <p:spPr>
          <a:xfrm>
            <a:off x="4311396" y="544068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B45309">
              <a:alpha val="12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4430268" y="5541264"/>
            <a:ext cx="73152" cy="7315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4558284" y="5440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B4530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DEGRADED</a:t>
            </a:r>
            <a:endParaRPr lang="en-US" sz="950" dirty="0"/>
          </a:p>
        </p:txBody>
      </p:sp>
      <p:sp>
        <p:nvSpPr>
          <p:cNvPr id="94" name="Text 92"/>
          <p:cNvSpPr txBox="1"/>
          <p:nvPr/>
        </p:nvSpPr>
        <p:spPr>
          <a:xfrm>
            <a:off x="5390388" y="547725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4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#B45309</a:t>
            </a:r>
            <a:endParaRPr lang="en-US" sz="950" dirty="0"/>
          </a:p>
        </p:txBody>
      </p:sp>
      <p:sp>
        <p:nvSpPr>
          <p:cNvPr id="95" name="Status pill Error"/>
          <p:cNvSpPr/>
          <p:nvPr/>
        </p:nvSpPr>
        <p:spPr>
          <a:xfrm>
            <a:off x="6094476" y="5440680"/>
            <a:ext cx="772668" cy="274320"/>
          </a:xfrm>
          <a:prstGeom prst="roundRect">
            <a:avLst>
              <a:gd name="adj" fmla="val 50000"/>
            </a:avLst>
          </a:prstGeom>
          <a:solidFill>
            <a:srgbClr val="B91C1C">
              <a:alpha val="12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6213348" y="5541264"/>
            <a:ext cx="73152" cy="7315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97" name="Text 95"/>
          <p:cNvSpPr txBox="1"/>
          <p:nvPr/>
        </p:nvSpPr>
        <p:spPr>
          <a:xfrm>
            <a:off x="6341364" y="5440680"/>
            <a:ext cx="4983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B91C1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ERROR</a:t>
            </a:r>
            <a:endParaRPr lang="en-US" sz="950" dirty="0"/>
          </a:p>
        </p:txBody>
      </p:sp>
      <p:sp>
        <p:nvSpPr>
          <p:cNvPr id="98" name="Text 96"/>
          <p:cNvSpPr txBox="1"/>
          <p:nvPr/>
        </p:nvSpPr>
        <p:spPr>
          <a:xfrm>
            <a:off x="6940296" y="547725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4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#B91C1C</a:t>
            </a:r>
            <a:endParaRPr lang="en-US" sz="950" dirty="0"/>
          </a:p>
        </p:txBody>
      </p:sp>
      <p:sp>
        <p:nvSpPr>
          <p:cNvPr id="99" name="Status pill Stopped"/>
          <p:cNvSpPr/>
          <p:nvPr/>
        </p:nvSpPr>
        <p:spPr>
          <a:xfrm>
            <a:off x="7644384" y="5440680"/>
            <a:ext cx="928116" cy="274320"/>
          </a:xfrm>
          <a:prstGeom prst="roundRect">
            <a:avLst>
              <a:gd name="adj" fmla="val 50000"/>
            </a:avLst>
          </a:prstGeom>
          <a:solidFill>
            <a:srgbClr val="5B6478">
              <a:alpha val="12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7763256" y="5541264"/>
            <a:ext cx="73152" cy="73152"/>
          </a:xfrm>
          <a:prstGeom prst="ellipse">
            <a:avLst/>
          </a:prstGeom>
          <a:solidFill>
            <a:srgbClr val="5B6478"/>
          </a:solidFill>
          <a:ln/>
        </p:spPr>
      </p:sp>
      <p:sp>
        <p:nvSpPr>
          <p:cNvPr id="101" name="Text 99"/>
          <p:cNvSpPr txBox="1"/>
          <p:nvPr/>
        </p:nvSpPr>
        <p:spPr>
          <a:xfrm>
            <a:off x="7891272" y="5440680"/>
            <a:ext cx="653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647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STOPPED</a:t>
            </a:r>
            <a:endParaRPr lang="en-US" sz="950" dirty="0"/>
          </a:p>
        </p:txBody>
      </p:sp>
      <p:sp>
        <p:nvSpPr>
          <p:cNvPr id="102" name="Text 100"/>
          <p:cNvSpPr txBox="1"/>
          <p:nvPr/>
        </p:nvSpPr>
        <p:spPr>
          <a:xfrm>
            <a:off x="8645652" y="547725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4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#5B6478</a:t>
            </a:r>
            <a:endParaRPr lang="en-US" sz="950" dirty="0"/>
          </a:p>
        </p:txBody>
      </p:sp>
      <p:sp>
        <p:nvSpPr>
          <p:cNvPr id="103" name="Text 101"/>
          <p:cNvSpPr txBox="1"/>
          <p:nvPr/>
        </p:nvSpPr>
        <p:spPr>
          <a:xfrm>
            <a:off x="9349740" y="5468112"/>
            <a:ext cx="20189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4B5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only, always with a word.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TYPOGRAPHY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Three families, one job each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828800"/>
            <a:ext cx="3515258" cy="4069080"/>
          </a:xfrm>
          <a:prstGeom prst="roundRect">
            <a:avLst>
              <a:gd name="adj" fmla="val 2861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DISPLAY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Archivo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20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Every live hour becomes a library.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4572000"/>
            <a:ext cx="2966618" cy="0"/>
          </a:xfrm>
          <a:prstGeom prst="line">
            <a:avLst/>
          </a:prstGeom>
          <a:noFill/>
          <a:ln w="9525">
            <a:solidFill>
              <a:srgbClr val="2226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70916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Titles: 800, width 112, -2%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056632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Headings: 700, width 100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404104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Eyebrows: 600, width 112, caps +14%</a:t>
            </a:r>
            <a:endParaRPr lang="en-US" sz="1150" dirty="0"/>
          </a:p>
        </p:txBody>
      </p:sp>
      <p:sp>
        <p:nvSpPr>
          <p:cNvPr id="12" name="Card"/>
          <p:cNvSpPr/>
          <p:nvPr/>
        </p:nvSpPr>
        <p:spPr>
          <a:xfrm>
            <a:off x="4338218" y="1828800"/>
            <a:ext cx="3515258" cy="4069080"/>
          </a:xfrm>
          <a:prstGeom prst="roundRect">
            <a:avLst>
              <a:gd name="adj" fmla="val 2861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12538" y="2057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TEXT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612538" y="233172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Inter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612538" y="297180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Recording starts when the channel goes on air. Clip and publish while it is still live.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612538" y="4572000"/>
            <a:ext cx="2966618" cy="0"/>
          </a:xfrm>
          <a:prstGeom prst="line">
            <a:avLst/>
          </a:prstGeom>
          <a:noFill/>
          <a:ln w="9525">
            <a:solidFill>
              <a:srgbClr val="2226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12538" y="470916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product UI and body copy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612538" y="5056632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Tables and captions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612538" y="5404104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Tabular figures for numbers</a:t>
            </a:r>
            <a:endParaRPr lang="en-US" sz="1150" dirty="0"/>
          </a:p>
        </p:txBody>
      </p:sp>
      <p:sp>
        <p:nvSpPr>
          <p:cNvPr id="20" name="Card"/>
          <p:cNvSpPr/>
          <p:nvPr/>
        </p:nvSpPr>
        <p:spPr>
          <a:xfrm>
            <a:off x="8127797" y="1828800"/>
            <a:ext cx="3515258" cy="4069080"/>
          </a:xfrm>
          <a:prstGeom prst="roundRect">
            <a:avLst>
              <a:gd name="adj" fmla="val 2861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02117" y="2057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DATA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402117" y="233172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9EC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JetBrains Mono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402117" y="297180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00:59:58:12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 Mb/s · 1920×1080 · 50p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SRT · RTMP · HLS · DASH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402117" y="4572000"/>
            <a:ext cx="2966618" cy="0"/>
          </a:xfrm>
          <a:prstGeom prst="line">
            <a:avLst/>
          </a:prstGeom>
          <a:noFill/>
          <a:ln w="9525">
            <a:solidFill>
              <a:srgbClr val="2226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02117" y="470916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Timecode HH:MM:SS:FF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402117" y="5056632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 URLs, keys, code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402117" y="5404104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 tags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TYPOGRAPHY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Styles in Word and PowerPoint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783080"/>
            <a:ext cx="7406640" cy="4206240"/>
          </a:xfrm>
          <a:prstGeom prst="roundRect">
            <a:avLst>
              <a:gd name="adj" fmla="val 2391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874520"/>
          <a:ext cx="7187184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1152144"/>
                <a:gridCol w="1097280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spc="100" kern="0" dirty="0">
                          <a:solidFill>
                            <a:srgbClr val="98A1B6"/>
                          </a:solidFill>
                          <a:latin typeface="Archivo Expanded SemiBold" pitchFamily="34" charset="0"/>
                          <a:ea typeface="Archivo Expanded SemiBold" pitchFamily="34" charset="-122"/>
                          <a:cs typeface="Archivo Expanded SemiBold" pitchFamily="34" charset="-120"/>
                        </a:rPr>
                        <a:t>STYLE</a:t>
                      </a:r>
                      <a:endParaRPr lang="en-US" sz="850" dirty="0">
                        <a:latin typeface="Archivo Expanded SemiBold" charset="0"/>
                        <a:ea typeface="Archivo Expanded SemiBold" charset="0"/>
                        <a:cs typeface="Archivo Expanded SemiBold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spc="100" kern="0" dirty="0">
                          <a:solidFill>
                            <a:srgbClr val="98A1B6"/>
                          </a:solidFill>
                          <a:latin typeface="Archivo Expanded SemiBold" pitchFamily="34" charset="0"/>
                          <a:ea typeface="Archivo Expanded SemiBold" pitchFamily="34" charset="-122"/>
                          <a:cs typeface="Archivo Expanded SemiBold" pitchFamily="34" charset="-120"/>
                        </a:rPr>
                        <a:t>FONT</a:t>
                      </a:r>
                      <a:endParaRPr lang="en-US" sz="850" dirty="0">
                        <a:latin typeface="Archivo Expanded SemiBold" charset="0"/>
                        <a:ea typeface="Archivo Expanded SemiBold" charset="0"/>
                        <a:cs typeface="Archivo Expanded SemiBold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spc="100" kern="0" dirty="0">
                          <a:solidFill>
                            <a:srgbClr val="98A1B6"/>
                          </a:solidFill>
                          <a:latin typeface="Archivo Expanded SemiBold" pitchFamily="34" charset="0"/>
                          <a:ea typeface="Archivo Expanded SemiBold" pitchFamily="34" charset="-122"/>
                          <a:cs typeface="Archivo Expanded SemiBold" pitchFamily="34" charset="-120"/>
                        </a:rPr>
                        <a:t>SIZE</a:t>
                      </a:r>
                      <a:endParaRPr lang="en-US" sz="850" dirty="0">
                        <a:latin typeface="Archivo Expanded SemiBold" charset="0"/>
                        <a:ea typeface="Archivo Expanded SemiBold" charset="0"/>
                        <a:cs typeface="Archivo Expanded SemiBold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spc="100" kern="0" dirty="0">
                          <a:solidFill>
                            <a:srgbClr val="98A1B6"/>
                          </a:solidFill>
                          <a:latin typeface="Archivo Expanded SemiBold" pitchFamily="34" charset="0"/>
                          <a:ea typeface="Archivo Expanded SemiBold" pitchFamily="34" charset="-122"/>
                          <a:cs typeface="Archivo Expanded SemiBold" pitchFamily="34" charset="-120"/>
                        </a:rPr>
                        <a:t>COLOUR</a:t>
                      </a:r>
                      <a:endParaRPr lang="en-US" sz="850" dirty="0">
                        <a:latin typeface="Archivo Expanded SemiBold" charset="0"/>
                        <a:ea typeface="Archivo Expanded SemiBold" charset="0"/>
                        <a:cs typeface="Archivo Expanded SemiBold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CF4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Title</a:t>
                      </a:r>
                      <a:endParaRPr lang="en-US" sz="11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8A1B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Archivo Bold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8A1B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26pt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8A1B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ink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CF4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Heading 1</a:t>
                      </a:r>
                      <a:endParaRPr lang="en-US" sz="11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8A1B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Archivo Bold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8A1B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18pt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8A1B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ink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CF4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Heading 2</a:t>
                      </a:r>
                      <a:endParaRPr lang="en-US" sz="11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8A1B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Archivo SemiBold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8A1B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13.5pt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8A1B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ink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CF4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Heading 3</a:t>
                      </a:r>
                      <a:endParaRPr lang="en-US" sz="11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8A1B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 SemiBold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8A1B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11pt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8A1B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ink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CF4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Normal / body</a:t>
                      </a:r>
                      <a:endParaRPr lang="en-US" sz="11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8A1B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Inter, 1.5 spacing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8A1B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10.5pt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8A1B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ink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CF4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Caption, table text</a:t>
                      </a:r>
                      <a:endParaRPr lang="en-US" sz="11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8A1B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8A1B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9pt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8A1B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ink-muted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CF4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Code, URLs, timecode</a:t>
                      </a:r>
                      <a:endParaRPr lang="en-US" sz="11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8A1B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JetBrains Mono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8A1B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9pt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8A1B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ink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CF4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Slide title</a:t>
                      </a:r>
                      <a:endParaRPr lang="en-US" sz="11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8A1B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Archivo Expanded ExtraBold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8A1B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32 to 40pt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8A1B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ink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CF4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Slide eyebrow</a:t>
                      </a:r>
                      <a:endParaRPr lang="en-US" sz="11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8A1B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Archivo Expanded SemiBold, caps, +14%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8A1B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10pt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8A1B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volt-text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9ECF4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Slide body</a:t>
                      </a:r>
                      <a:endParaRPr lang="en-US" sz="110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8A1B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8A1B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16 to 20pt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8A1B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ink-muted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B2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21040" y="1783080"/>
            <a:ext cx="332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Install first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2075688"/>
            <a:ext cx="3322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Archivo, Archivo Expanded, Inter and JetBrains Mono from fonts/desktop.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2834640"/>
            <a:ext cx="332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Embed fonts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3127248"/>
            <a:ext cx="3322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a file goes to someone who will edit it, choose Embed fonts in Office.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3886200"/>
            <a:ext cx="332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Fallback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321040" y="4178808"/>
            <a:ext cx="3322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Arial replaces Archivo and Inter. Consolas replaces JetBrains Mono.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4937760"/>
            <a:ext cx="332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Arrows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5230368"/>
            <a:ext cx="3322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desktop fonts are Latin subsets without </a:t>
            </a:r>
            <a:pPr indent="0" marL="0">
              <a:buNone/>
            </a:pPr>
            <a:r>
              <a:rPr lang="en-US" sz="1150" dirty="0">
                <a:solidFill>
                  <a:srgbClr val="98A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indent="0" marL="0">
              <a:buNone/>
            </a:pPr>
            <a:r>
              <a:rPr lang="en-US" sz="11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so templates set the arrow in Arial.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One line family, 51 icons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Grid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828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× 24 with a 2-unit margin. Nothing touches the edge.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963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Stroke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249631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units, round caps and joins, no fills.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638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Perspective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316382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Flat and front-on. No shading, no second colour.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313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Colour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383133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volt on a panel node, ink when the page is one colour, white on volt-strong.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498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Label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44988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 set the word beside or below the icon.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166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Not icons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51663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Protocols are mono tags. Third-party services use their own marks.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6400800" y="1828800"/>
            <a:ext cx="5242255" cy="1965960"/>
          </a:xfrm>
          <a:prstGeom prst="roundRect">
            <a:avLst>
              <a:gd name="adj" fmla="val 5116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2103120"/>
            <a:ext cx="868680" cy="868680"/>
          </a:xfrm>
          <a:prstGeom prst="roundRect">
            <a:avLst>
              <a:gd name="adj" fmla="val 18947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18" name="Image 0" descr="/tmp/claude-0/-home-claude/1f4339df-fb00-509e-93e4-fe12d7533144/scratchpad/repo/brand/icons/png/volt/channel@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6016" y="2322576"/>
            <a:ext cx="429768" cy="429768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6583680" y="31089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volt on panel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458200" y="2103120"/>
            <a:ext cx="868680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 w="9525">
            <a:solidFill>
              <a:srgbClr val="C6CEDC"/>
            </a:solidFill>
            <a:prstDash val="solid"/>
          </a:ln>
        </p:spPr>
      </p:sp>
      <p:pic>
        <p:nvPicPr>
          <p:cNvPr id="21" name="Image 1" descr="/tmp/claude-0/-home-claude/1f4339df-fb00-509e-93e4-fe12d7533144/scratchpad/repo/brand/icons/png/ink/channel@9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656" y="2322576"/>
            <a:ext cx="429768" cy="429768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275320" y="31089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ink on Paper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10149840" y="2103120"/>
            <a:ext cx="868680" cy="868680"/>
          </a:xfrm>
          <a:prstGeom prst="roundRect">
            <a:avLst>
              <a:gd name="adj" fmla="val 18947"/>
            </a:avLst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</p:sp>
      <p:pic>
        <p:nvPicPr>
          <p:cNvPr id="24" name="Image 2" descr="/tmp/claude-0/-home-claude/1f4339df-fb00-509e-93e4-fe12d7533144/scratchpad/repo/brand/icons/png/white/channel@9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296" y="2322576"/>
            <a:ext cx="429768" cy="42976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966960" y="31089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 on volt-strong</a:t>
            </a:r>
            <a:endParaRPr lang="en-US" sz="1050" dirty="0"/>
          </a:p>
        </p:txBody>
      </p:sp>
      <p:sp>
        <p:nvSpPr>
          <p:cNvPr id="26" name="Card"/>
          <p:cNvSpPr/>
          <p:nvPr/>
        </p:nvSpPr>
        <p:spPr>
          <a:xfrm>
            <a:off x="6400800" y="3977640"/>
            <a:ext cx="5242255" cy="1920240"/>
          </a:xfrm>
          <a:prstGeom prst="roundRect">
            <a:avLst>
              <a:gd name="adj" fmla="val 5238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675120" y="4160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98A1B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SIZES, SHOWN AT 1.5×</a:t>
            </a:r>
            <a:endParaRPr lang="en-US" sz="1000" dirty="0"/>
          </a:p>
        </p:txBody>
      </p:sp>
      <p:pic>
        <p:nvPicPr>
          <p:cNvPr id="28" name="Image 3" descr="/tmp/claude-0/-home-claude/1f4339df-fb00-509e-93e4-fe12d7533144/scratchpad/repo/brand/icons/png/volt/live-to-vod@9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888040"/>
            <a:ext cx="214313" cy="214313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583680" y="5193792"/>
            <a:ext cx="58007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9EC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15px</a:t>
            </a:r>
            <a:endParaRPr lang="en-US" sz="950" dirty="0"/>
          </a:p>
        </p:txBody>
      </p:sp>
      <p:sp>
        <p:nvSpPr>
          <p:cNvPr id="30" name="Text 24"/>
          <p:cNvSpPr txBox="1"/>
          <p:nvPr/>
        </p:nvSpPr>
        <p:spPr>
          <a:xfrm>
            <a:off x="6446520" y="5422392"/>
            <a:ext cx="8543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Buttons</a:t>
            </a:r>
            <a:endParaRPr lang="en-US" sz="950" dirty="0"/>
          </a:p>
        </p:txBody>
      </p:sp>
      <p:pic>
        <p:nvPicPr>
          <p:cNvPr id="31" name="Image 4" descr="/tmp/claude-0/-home-claude/1f4339df-fb00-509e-93e4-fe12d7533144/scratchpad/repo/brand/icons/png/volt/live-to-vod@9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4845177"/>
            <a:ext cx="257175" cy="257175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543800" y="5193792"/>
            <a:ext cx="6229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9EC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18px</a:t>
            </a:r>
            <a:endParaRPr lang="en-US" sz="950" dirty="0"/>
          </a:p>
        </p:txBody>
      </p:sp>
      <p:sp>
        <p:nvSpPr>
          <p:cNvPr id="33" name="Text 26"/>
          <p:cNvSpPr txBox="1"/>
          <p:nvPr/>
        </p:nvSpPr>
        <p:spPr>
          <a:xfrm>
            <a:off x="7406640" y="5422392"/>
            <a:ext cx="8972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Navigation</a:t>
            </a:r>
            <a:endParaRPr lang="en-US" sz="950" dirty="0"/>
          </a:p>
        </p:txBody>
      </p:sp>
      <p:pic>
        <p:nvPicPr>
          <p:cNvPr id="34" name="Image 5" descr="/tmp/claude-0/-home-claude/1f4339df-fb00-509e-93e4-fe12d7533144/scratchpad/repo/brand/icons/png/volt/live-to-vod@9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0" y="4759452"/>
            <a:ext cx="342900" cy="34290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503920" y="5193792"/>
            <a:ext cx="7086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9EC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24px</a:t>
            </a:r>
            <a:endParaRPr lang="en-US" sz="950" dirty="0"/>
          </a:p>
        </p:txBody>
      </p:sp>
      <p:sp>
        <p:nvSpPr>
          <p:cNvPr id="36" name="Text 28"/>
          <p:cNvSpPr txBox="1"/>
          <p:nvPr/>
        </p:nvSpPr>
        <p:spPr>
          <a:xfrm>
            <a:off x="8366760" y="5422392"/>
            <a:ext cx="9829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UI, documents</a:t>
            </a:r>
            <a:endParaRPr lang="en-US" sz="950" dirty="0"/>
          </a:p>
        </p:txBody>
      </p:sp>
      <p:pic>
        <p:nvPicPr>
          <p:cNvPr id="37" name="Image 6" descr="/tmp/claude-0/-home-claude/1f4339df-fb00-509e-93e4-fe12d7533144/scratchpad/repo/brand/icons/png/volt/live-to-vod@9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6920" y="4645152"/>
            <a:ext cx="457200" cy="4572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9464040" y="51937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9EC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32px</a:t>
            </a:r>
            <a:endParaRPr lang="en-US" sz="950" dirty="0"/>
          </a:p>
        </p:txBody>
      </p:sp>
      <p:sp>
        <p:nvSpPr>
          <p:cNvPr id="39" name="Text 30"/>
          <p:cNvSpPr txBox="1"/>
          <p:nvPr/>
        </p:nvSpPr>
        <p:spPr>
          <a:xfrm>
            <a:off x="9326880" y="54223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Slides</a:t>
            </a:r>
            <a:endParaRPr lang="en-US" sz="950" dirty="0"/>
          </a:p>
        </p:txBody>
      </p:sp>
      <p:pic>
        <p:nvPicPr>
          <p:cNvPr id="40" name="Image 7" descr="/tmp/claude-0/-home-claude/1f4339df-fb00-509e-93e4-fe12d7533144/scratchpad/repo/brand/icons/png/volt/live-to-vod@96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7040" y="4416552"/>
            <a:ext cx="685800" cy="68580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10424160" y="519379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9EC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48px</a:t>
            </a:r>
            <a:endParaRPr lang="en-US" sz="950" dirty="0"/>
          </a:p>
        </p:txBody>
      </p:sp>
      <p:sp>
        <p:nvSpPr>
          <p:cNvPr id="42" name="Text 32"/>
          <p:cNvSpPr txBox="1"/>
          <p:nvPr/>
        </p:nvSpPr>
        <p:spPr>
          <a:xfrm>
            <a:off x="10287000" y="54223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ICONS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The set, by group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BROADCAST · 12</a:t>
            </a:r>
            <a:endParaRPr lang="en-US" sz="1000" dirty="0"/>
          </a:p>
        </p:txBody>
      </p:sp>
      <p:pic>
        <p:nvPicPr>
          <p:cNvPr id="5" name="Image 0" descr="li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006" y="193852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28600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</a:t>
            </a:r>
            <a:endParaRPr lang="en-US" sz="850" dirty="0"/>
          </a:p>
        </p:txBody>
      </p:sp>
      <p:pic>
        <p:nvPicPr>
          <p:cNvPr id="7" name="Image 1" descr="chann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634" y="1938528"/>
            <a:ext cx="310896" cy="3108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8268" y="228600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</a:t>
            </a:r>
            <a:endParaRPr lang="en-US" sz="850" dirty="0"/>
          </a:p>
        </p:txBody>
      </p:sp>
      <p:pic>
        <p:nvPicPr>
          <p:cNvPr id="9" name="Image 2" descr="eve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261" y="1938528"/>
            <a:ext cx="310896" cy="31089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027895" y="228600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</a:t>
            </a:r>
            <a:endParaRPr lang="en-US" sz="850" dirty="0"/>
          </a:p>
        </p:txBody>
      </p:sp>
      <p:pic>
        <p:nvPicPr>
          <p:cNvPr id="11" name="Image 3" descr="radi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1889" y="1938528"/>
            <a:ext cx="310896" cy="310896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2767523" y="228600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radio</a:t>
            </a:r>
            <a:endParaRPr lang="en-US" sz="850" dirty="0"/>
          </a:p>
        </p:txBody>
      </p:sp>
      <p:pic>
        <p:nvPicPr>
          <p:cNvPr id="13" name="Image 4" descr="fas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1517" y="1938528"/>
            <a:ext cx="310896" cy="310896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3507151" y="228600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</a:t>
            </a:r>
            <a:endParaRPr lang="en-US" sz="850" dirty="0"/>
          </a:p>
        </p:txBody>
      </p:sp>
      <p:pic>
        <p:nvPicPr>
          <p:cNvPr id="15" name="Image 5" descr="loop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1144" y="1938528"/>
            <a:ext cx="310896" cy="310896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246778" y="228600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loop</a:t>
            </a:r>
            <a:endParaRPr lang="en-US" sz="850" dirty="0"/>
          </a:p>
        </p:txBody>
      </p:sp>
      <p:pic>
        <p:nvPicPr>
          <p:cNvPr id="17" name="Image 6" descr="e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0772" y="1938528"/>
            <a:ext cx="310896" cy="310896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4986406" y="228600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epg</a:t>
            </a:r>
            <a:endParaRPr lang="en-US" sz="850" dirty="0"/>
          </a:p>
        </p:txBody>
      </p:sp>
      <p:pic>
        <p:nvPicPr>
          <p:cNvPr id="19" name="Image 7" descr="schedul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0400" y="1938528"/>
            <a:ext cx="310896" cy="310896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5726034" y="228600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</a:t>
            </a:r>
            <a:endParaRPr lang="en-US" sz="850" dirty="0"/>
          </a:p>
        </p:txBody>
      </p:sp>
      <p:pic>
        <p:nvPicPr>
          <p:cNvPr id="21" name="Image 8" descr="failove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0027" y="1938528"/>
            <a:ext cx="310896" cy="310896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6465661" y="228600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failover</a:t>
            </a:r>
            <a:endParaRPr lang="en-US" sz="850" dirty="0"/>
          </a:p>
        </p:txBody>
      </p:sp>
      <p:pic>
        <p:nvPicPr>
          <p:cNvPr id="23" name="Image 9" descr="overlay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19655" y="1938528"/>
            <a:ext cx="310896" cy="310896"/>
          </a:xfrm>
          <a:prstGeom prst="rect">
            <a:avLst/>
          </a:prstGeom>
        </p:spPr>
      </p:pic>
      <p:sp>
        <p:nvSpPr>
          <p:cNvPr id="24" name="Text 12"/>
          <p:cNvSpPr txBox="1"/>
          <p:nvPr/>
        </p:nvSpPr>
        <p:spPr>
          <a:xfrm>
            <a:off x="7205289" y="228600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overlay</a:t>
            </a:r>
            <a:endParaRPr lang="en-US" sz="850" dirty="0"/>
          </a:p>
        </p:txBody>
      </p:sp>
      <p:pic>
        <p:nvPicPr>
          <p:cNvPr id="25" name="Image 10" descr="multiview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59283" y="1938528"/>
            <a:ext cx="310896" cy="310896"/>
          </a:xfrm>
          <a:prstGeom prst="rect">
            <a:avLst/>
          </a:prstGeom>
        </p:spPr>
      </p:pic>
      <p:sp>
        <p:nvSpPr>
          <p:cNvPr id="26" name="Text 13"/>
          <p:cNvSpPr txBox="1"/>
          <p:nvPr/>
        </p:nvSpPr>
        <p:spPr>
          <a:xfrm>
            <a:off x="7944917" y="228600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multiview</a:t>
            </a:r>
            <a:endParaRPr lang="en-US" sz="850" dirty="0"/>
          </a:p>
        </p:txBody>
      </p:sp>
      <p:pic>
        <p:nvPicPr>
          <p:cNvPr id="27" name="Image 11" descr="monitori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98910" y="1938528"/>
            <a:ext cx="310896" cy="310896"/>
          </a:xfrm>
          <a:prstGeom prst="rect">
            <a:avLst/>
          </a:prstGeom>
        </p:spPr>
      </p:pic>
      <p:sp>
        <p:nvSpPr>
          <p:cNvPr id="28" name="Text 14"/>
          <p:cNvSpPr txBox="1"/>
          <p:nvPr/>
        </p:nvSpPr>
        <p:spPr>
          <a:xfrm>
            <a:off x="8684544" y="228600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</a:t>
            </a:r>
            <a:endParaRPr lang="en-US" sz="850" dirty="0"/>
          </a:p>
        </p:txBody>
      </p:sp>
      <p:sp>
        <p:nvSpPr>
          <p:cNvPr id="29" name="Text 15"/>
          <p:cNvSpPr txBox="1"/>
          <p:nvPr/>
        </p:nvSpPr>
        <p:spPr>
          <a:xfrm>
            <a:off x="548640" y="2560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MEDIA · 10</a:t>
            </a:r>
            <a:endParaRPr lang="en-US" sz="1000" dirty="0"/>
          </a:p>
        </p:txBody>
      </p:sp>
      <p:pic>
        <p:nvPicPr>
          <p:cNvPr id="30" name="Image 12" descr="live-to-vod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3006" y="2807208"/>
            <a:ext cx="310896" cy="310896"/>
          </a:xfrm>
          <a:prstGeom prst="rect">
            <a:avLst/>
          </a:prstGeom>
        </p:spPr>
      </p:pic>
      <p:sp>
        <p:nvSpPr>
          <p:cNvPr id="31" name="Text 16"/>
          <p:cNvSpPr txBox="1"/>
          <p:nvPr/>
        </p:nvSpPr>
        <p:spPr>
          <a:xfrm>
            <a:off x="548640" y="315468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live-to-vod</a:t>
            </a:r>
            <a:endParaRPr lang="en-US" sz="850" dirty="0"/>
          </a:p>
        </p:txBody>
      </p:sp>
      <p:pic>
        <p:nvPicPr>
          <p:cNvPr id="32" name="Image 13" descr="vod-to-live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02634" y="2807208"/>
            <a:ext cx="310896" cy="310896"/>
          </a:xfrm>
          <a:prstGeom prst="rect">
            <a:avLst/>
          </a:prstGeom>
        </p:spPr>
      </p:pic>
      <p:sp>
        <p:nvSpPr>
          <p:cNvPr id="33" name="Text 17"/>
          <p:cNvSpPr txBox="1"/>
          <p:nvPr/>
        </p:nvSpPr>
        <p:spPr>
          <a:xfrm>
            <a:off x="1288268" y="315468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vod-to-live</a:t>
            </a:r>
            <a:endParaRPr lang="en-US" sz="850" dirty="0"/>
          </a:p>
        </p:txBody>
      </p:sp>
      <p:pic>
        <p:nvPicPr>
          <p:cNvPr id="34" name="Image 14" descr="recordi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42261" y="2807208"/>
            <a:ext cx="310896" cy="310896"/>
          </a:xfrm>
          <a:prstGeom prst="rect">
            <a:avLst/>
          </a:prstGeom>
        </p:spPr>
      </p:pic>
      <p:sp>
        <p:nvSpPr>
          <p:cNvPr id="35" name="Text 18"/>
          <p:cNvSpPr txBox="1"/>
          <p:nvPr/>
        </p:nvSpPr>
        <p:spPr>
          <a:xfrm>
            <a:off x="2027895" y="315468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recording</a:t>
            </a:r>
            <a:endParaRPr lang="en-US" sz="850" dirty="0"/>
          </a:p>
        </p:txBody>
      </p:sp>
      <p:pic>
        <p:nvPicPr>
          <p:cNvPr id="36" name="Image 15" descr="clip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81889" y="2807208"/>
            <a:ext cx="310896" cy="310896"/>
          </a:xfrm>
          <a:prstGeom prst="rect">
            <a:avLst/>
          </a:prstGeom>
        </p:spPr>
      </p:pic>
      <p:sp>
        <p:nvSpPr>
          <p:cNvPr id="37" name="Text 19"/>
          <p:cNvSpPr txBox="1"/>
          <p:nvPr/>
        </p:nvSpPr>
        <p:spPr>
          <a:xfrm>
            <a:off x="2767523" y="315468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clip</a:t>
            </a:r>
            <a:endParaRPr lang="en-US" sz="850" dirty="0"/>
          </a:p>
        </p:txBody>
      </p:sp>
      <p:pic>
        <p:nvPicPr>
          <p:cNvPr id="38" name="Image 16" descr="media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721517" y="2807208"/>
            <a:ext cx="310896" cy="310896"/>
          </a:xfrm>
          <a:prstGeom prst="rect">
            <a:avLst/>
          </a:prstGeom>
        </p:spPr>
      </p:pic>
      <p:sp>
        <p:nvSpPr>
          <p:cNvPr id="39" name="Text 20"/>
          <p:cNvSpPr txBox="1"/>
          <p:nvPr/>
        </p:nvSpPr>
        <p:spPr>
          <a:xfrm>
            <a:off x="3507151" y="315468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</a:t>
            </a:r>
            <a:endParaRPr lang="en-US" sz="850" dirty="0"/>
          </a:p>
        </p:txBody>
      </p:sp>
      <p:pic>
        <p:nvPicPr>
          <p:cNvPr id="40" name="Image 17" descr="image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61144" y="2807208"/>
            <a:ext cx="310896" cy="310896"/>
          </a:xfrm>
          <a:prstGeom prst="rect">
            <a:avLst/>
          </a:prstGeom>
        </p:spPr>
      </p:pic>
      <p:sp>
        <p:nvSpPr>
          <p:cNvPr id="41" name="Text 21"/>
          <p:cNvSpPr txBox="1"/>
          <p:nvPr/>
        </p:nvSpPr>
        <p:spPr>
          <a:xfrm>
            <a:off x="4246778" y="315468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</a:t>
            </a:r>
            <a:endParaRPr lang="en-US" sz="850" dirty="0"/>
          </a:p>
        </p:txBody>
      </p:sp>
      <p:pic>
        <p:nvPicPr>
          <p:cNvPr id="42" name="Image 18" descr="captions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00772" y="2807208"/>
            <a:ext cx="310896" cy="310896"/>
          </a:xfrm>
          <a:prstGeom prst="rect">
            <a:avLst/>
          </a:prstGeom>
        </p:spPr>
      </p:pic>
      <p:sp>
        <p:nvSpPr>
          <p:cNvPr id="43" name="Text 22"/>
          <p:cNvSpPr txBox="1"/>
          <p:nvPr/>
        </p:nvSpPr>
        <p:spPr>
          <a:xfrm>
            <a:off x="4986406" y="315468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captions</a:t>
            </a:r>
            <a:endParaRPr lang="en-US" sz="850" dirty="0"/>
          </a:p>
        </p:txBody>
      </p:sp>
      <p:pic>
        <p:nvPicPr>
          <p:cNvPr id="44" name="Image 19" descr="translate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40400" y="2807208"/>
            <a:ext cx="310896" cy="310896"/>
          </a:xfrm>
          <a:prstGeom prst="rect">
            <a:avLst/>
          </a:prstGeom>
        </p:spPr>
      </p:pic>
      <p:sp>
        <p:nvSpPr>
          <p:cNvPr id="45" name="Text 23"/>
          <p:cNvSpPr txBox="1"/>
          <p:nvPr/>
        </p:nvSpPr>
        <p:spPr>
          <a:xfrm>
            <a:off x="5726034" y="315468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translate</a:t>
            </a:r>
            <a:endParaRPr lang="en-US" sz="850" dirty="0"/>
          </a:p>
        </p:txBody>
      </p:sp>
      <p:pic>
        <p:nvPicPr>
          <p:cNvPr id="46" name="Image 20" descr="audio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80027" y="2807208"/>
            <a:ext cx="310896" cy="310896"/>
          </a:xfrm>
          <a:prstGeom prst="rect">
            <a:avLst/>
          </a:prstGeom>
        </p:spPr>
      </p:pic>
      <p:sp>
        <p:nvSpPr>
          <p:cNvPr id="47" name="Text 24"/>
          <p:cNvSpPr txBox="1"/>
          <p:nvPr/>
        </p:nvSpPr>
        <p:spPr>
          <a:xfrm>
            <a:off x="6465661" y="315468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audio</a:t>
            </a:r>
            <a:endParaRPr lang="en-US" sz="850" dirty="0"/>
          </a:p>
        </p:txBody>
      </p:sp>
      <p:pic>
        <p:nvPicPr>
          <p:cNvPr id="48" name="Image 21" descr="review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19655" y="2807208"/>
            <a:ext cx="310896" cy="310896"/>
          </a:xfrm>
          <a:prstGeom prst="rect">
            <a:avLst/>
          </a:prstGeom>
        </p:spPr>
      </p:pic>
      <p:sp>
        <p:nvSpPr>
          <p:cNvPr id="49" name="Text 25"/>
          <p:cNvSpPr txBox="1"/>
          <p:nvPr/>
        </p:nvSpPr>
        <p:spPr>
          <a:xfrm>
            <a:off x="7205289" y="315468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850" dirty="0"/>
          </a:p>
        </p:txBody>
      </p:sp>
      <p:sp>
        <p:nvSpPr>
          <p:cNvPr id="50" name="Text 26"/>
          <p:cNvSpPr txBox="1"/>
          <p:nvPr/>
        </p:nvSpPr>
        <p:spPr>
          <a:xfrm>
            <a:off x="54864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PIPELINE · 15</a:t>
            </a:r>
            <a:endParaRPr lang="en-US" sz="1000" dirty="0"/>
          </a:p>
        </p:txBody>
      </p:sp>
      <p:pic>
        <p:nvPicPr>
          <p:cNvPr id="51" name="Image 22" descr="source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3006" y="3675888"/>
            <a:ext cx="310896" cy="310896"/>
          </a:xfrm>
          <a:prstGeom prst="rect">
            <a:avLst/>
          </a:prstGeom>
        </p:spPr>
      </p:pic>
      <p:sp>
        <p:nvSpPr>
          <p:cNvPr id="52" name="Text 27"/>
          <p:cNvSpPr txBox="1"/>
          <p:nvPr/>
        </p:nvSpPr>
        <p:spPr>
          <a:xfrm>
            <a:off x="548640" y="402336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</a:t>
            </a:r>
            <a:endParaRPr lang="en-US" sz="850" dirty="0"/>
          </a:p>
        </p:txBody>
      </p:sp>
      <p:pic>
        <p:nvPicPr>
          <p:cNvPr id="53" name="Image 23" descr="ingest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502634" y="3675888"/>
            <a:ext cx="310896" cy="310896"/>
          </a:xfrm>
          <a:prstGeom prst="rect">
            <a:avLst/>
          </a:prstGeom>
        </p:spPr>
      </p:pic>
      <p:sp>
        <p:nvSpPr>
          <p:cNvPr id="54" name="Text 28"/>
          <p:cNvSpPr txBox="1"/>
          <p:nvPr/>
        </p:nvSpPr>
        <p:spPr>
          <a:xfrm>
            <a:off x="1288268" y="402336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</a:t>
            </a:r>
            <a:endParaRPr lang="en-US" sz="850" dirty="0"/>
          </a:p>
        </p:txBody>
      </p:sp>
      <p:pic>
        <p:nvPicPr>
          <p:cNvPr id="55" name="Image 24" descr="upload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242261" y="3675888"/>
            <a:ext cx="310896" cy="310896"/>
          </a:xfrm>
          <a:prstGeom prst="rect">
            <a:avLst/>
          </a:prstGeom>
        </p:spPr>
      </p:pic>
      <p:sp>
        <p:nvSpPr>
          <p:cNvPr id="56" name="Text 29"/>
          <p:cNvSpPr txBox="1"/>
          <p:nvPr/>
        </p:nvSpPr>
        <p:spPr>
          <a:xfrm>
            <a:off x="2027895" y="402336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</a:t>
            </a:r>
            <a:endParaRPr lang="en-US" sz="850" dirty="0"/>
          </a:p>
        </p:txBody>
      </p:sp>
      <p:pic>
        <p:nvPicPr>
          <p:cNvPr id="57" name="Image 25" descr="encoder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981889" y="3675888"/>
            <a:ext cx="310896" cy="310896"/>
          </a:xfrm>
          <a:prstGeom prst="rect">
            <a:avLst/>
          </a:prstGeom>
        </p:spPr>
      </p:pic>
      <p:sp>
        <p:nvSpPr>
          <p:cNvPr id="58" name="Text 30"/>
          <p:cNvSpPr txBox="1"/>
          <p:nvPr/>
        </p:nvSpPr>
        <p:spPr>
          <a:xfrm>
            <a:off x="2767523" y="402336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encoder</a:t>
            </a:r>
            <a:endParaRPr lang="en-US" sz="850" dirty="0"/>
          </a:p>
        </p:txBody>
      </p:sp>
      <p:pic>
        <p:nvPicPr>
          <p:cNvPr id="59" name="Image 26" descr="packager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721517" y="3675888"/>
            <a:ext cx="310896" cy="310896"/>
          </a:xfrm>
          <a:prstGeom prst="rect">
            <a:avLst/>
          </a:prstGeom>
        </p:spPr>
      </p:pic>
      <p:sp>
        <p:nvSpPr>
          <p:cNvPr id="60" name="Text 31"/>
          <p:cNvSpPr txBox="1"/>
          <p:nvPr/>
        </p:nvSpPr>
        <p:spPr>
          <a:xfrm>
            <a:off x="3507151" y="402336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packager</a:t>
            </a:r>
            <a:endParaRPr lang="en-US" sz="850" dirty="0"/>
          </a:p>
        </p:txBody>
      </p:sp>
      <p:pic>
        <p:nvPicPr>
          <p:cNvPr id="61" name="Image 27" descr="server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461144" y="3675888"/>
            <a:ext cx="310896" cy="310896"/>
          </a:xfrm>
          <a:prstGeom prst="rect">
            <a:avLst/>
          </a:prstGeom>
        </p:spPr>
      </p:pic>
      <p:sp>
        <p:nvSpPr>
          <p:cNvPr id="62" name="Text 32"/>
          <p:cNvSpPr txBox="1"/>
          <p:nvPr/>
        </p:nvSpPr>
        <p:spPr>
          <a:xfrm>
            <a:off x="4246778" y="402336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</a:t>
            </a:r>
            <a:endParaRPr lang="en-US" sz="850" dirty="0"/>
          </a:p>
        </p:txBody>
      </p:sp>
      <p:pic>
        <p:nvPicPr>
          <p:cNvPr id="63" name="Image 28" descr="cdn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200772" y="3675888"/>
            <a:ext cx="310896" cy="310896"/>
          </a:xfrm>
          <a:prstGeom prst="rect">
            <a:avLst/>
          </a:prstGeom>
        </p:spPr>
      </p:pic>
      <p:sp>
        <p:nvSpPr>
          <p:cNvPr id="64" name="Text 33"/>
          <p:cNvSpPr txBox="1"/>
          <p:nvPr/>
        </p:nvSpPr>
        <p:spPr>
          <a:xfrm>
            <a:off x="4986406" y="402336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cdn</a:t>
            </a:r>
            <a:endParaRPr lang="en-US" sz="850" dirty="0"/>
          </a:p>
        </p:txBody>
      </p:sp>
      <p:pic>
        <p:nvPicPr>
          <p:cNvPr id="65" name="Image 29" descr="cloud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940400" y="3675888"/>
            <a:ext cx="310896" cy="310896"/>
          </a:xfrm>
          <a:prstGeom prst="rect">
            <a:avLst/>
          </a:prstGeom>
        </p:spPr>
      </p:pic>
      <p:sp>
        <p:nvSpPr>
          <p:cNvPr id="66" name="Text 34"/>
          <p:cNvSpPr txBox="1"/>
          <p:nvPr/>
        </p:nvSpPr>
        <p:spPr>
          <a:xfrm>
            <a:off x="5726034" y="402336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</a:t>
            </a:r>
            <a:endParaRPr lang="en-US" sz="850" dirty="0"/>
          </a:p>
        </p:txBody>
      </p:sp>
      <p:pic>
        <p:nvPicPr>
          <p:cNvPr id="67" name="Image 30" descr="storage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680027" y="3675888"/>
            <a:ext cx="310896" cy="310896"/>
          </a:xfrm>
          <a:prstGeom prst="rect">
            <a:avLst/>
          </a:prstGeom>
        </p:spPr>
      </p:pic>
      <p:sp>
        <p:nvSpPr>
          <p:cNvPr id="68" name="Text 35"/>
          <p:cNvSpPr txBox="1"/>
          <p:nvPr/>
        </p:nvSpPr>
        <p:spPr>
          <a:xfrm>
            <a:off x="6465661" y="402336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storage</a:t>
            </a:r>
            <a:endParaRPr lang="en-US" sz="850" dirty="0"/>
          </a:p>
        </p:txBody>
      </p:sp>
      <p:pic>
        <p:nvPicPr>
          <p:cNvPr id="69" name="Image 31" descr="watchfolder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419655" y="3675888"/>
            <a:ext cx="310896" cy="310896"/>
          </a:xfrm>
          <a:prstGeom prst="rect">
            <a:avLst/>
          </a:prstGeom>
        </p:spPr>
      </p:pic>
      <p:sp>
        <p:nvSpPr>
          <p:cNvPr id="70" name="Text 36"/>
          <p:cNvSpPr txBox="1"/>
          <p:nvPr/>
        </p:nvSpPr>
        <p:spPr>
          <a:xfrm>
            <a:off x="7205289" y="402336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watchfolder</a:t>
            </a:r>
            <a:endParaRPr lang="en-US" sz="850" dirty="0"/>
          </a:p>
        </p:txBody>
      </p:sp>
      <p:pic>
        <p:nvPicPr>
          <p:cNvPr id="71" name="Image 32" descr="player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159283" y="3675888"/>
            <a:ext cx="310896" cy="310896"/>
          </a:xfrm>
          <a:prstGeom prst="rect">
            <a:avLst/>
          </a:prstGeom>
        </p:spPr>
      </p:pic>
      <p:sp>
        <p:nvSpPr>
          <p:cNvPr id="72" name="Text 37"/>
          <p:cNvSpPr txBox="1"/>
          <p:nvPr/>
        </p:nvSpPr>
        <p:spPr>
          <a:xfrm>
            <a:off x="7944917" y="402336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player</a:t>
            </a:r>
            <a:endParaRPr lang="en-US" sz="850" dirty="0"/>
          </a:p>
        </p:txBody>
      </p:sp>
      <p:pic>
        <p:nvPicPr>
          <p:cNvPr id="73" name="Image 33" descr="drm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898910" y="3675888"/>
            <a:ext cx="310896" cy="310896"/>
          </a:xfrm>
          <a:prstGeom prst="rect">
            <a:avLst/>
          </a:prstGeom>
        </p:spPr>
      </p:pic>
      <p:sp>
        <p:nvSpPr>
          <p:cNvPr id="74" name="Text 38"/>
          <p:cNvSpPr txBox="1"/>
          <p:nvPr/>
        </p:nvSpPr>
        <p:spPr>
          <a:xfrm>
            <a:off x="8684544" y="402336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drm</a:t>
            </a:r>
            <a:endParaRPr lang="en-US" sz="850" dirty="0"/>
          </a:p>
        </p:txBody>
      </p:sp>
      <p:pic>
        <p:nvPicPr>
          <p:cNvPr id="75" name="Image 34" descr="rights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638538" y="3675888"/>
            <a:ext cx="310896" cy="310896"/>
          </a:xfrm>
          <a:prstGeom prst="rect">
            <a:avLst/>
          </a:prstGeom>
        </p:spPr>
      </p:pic>
      <p:sp>
        <p:nvSpPr>
          <p:cNvPr id="76" name="Text 39"/>
          <p:cNvSpPr txBox="1"/>
          <p:nvPr/>
        </p:nvSpPr>
        <p:spPr>
          <a:xfrm>
            <a:off x="9424172" y="402336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rights</a:t>
            </a:r>
            <a:endParaRPr lang="en-US" sz="850" dirty="0"/>
          </a:p>
        </p:txBody>
      </p:sp>
      <p:pic>
        <p:nvPicPr>
          <p:cNvPr id="77" name="Image 35" descr="geo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378166" y="3675888"/>
            <a:ext cx="310896" cy="310896"/>
          </a:xfrm>
          <a:prstGeom prst="rect">
            <a:avLst/>
          </a:prstGeom>
        </p:spPr>
      </p:pic>
      <p:sp>
        <p:nvSpPr>
          <p:cNvPr id="78" name="Text 40"/>
          <p:cNvSpPr txBox="1"/>
          <p:nvPr/>
        </p:nvSpPr>
        <p:spPr>
          <a:xfrm>
            <a:off x="10163800" y="402336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</a:t>
            </a:r>
            <a:endParaRPr lang="en-US" sz="850" dirty="0"/>
          </a:p>
        </p:txBody>
      </p:sp>
      <p:pic>
        <p:nvPicPr>
          <p:cNvPr id="79" name="Image 36" descr="globe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1117793" y="3675888"/>
            <a:ext cx="310896" cy="310896"/>
          </a:xfrm>
          <a:prstGeom prst="rect">
            <a:avLst/>
          </a:prstGeom>
        </p:spPr>
      </p:pic>
      <p:sp>
        <p:nvSpPr>
          <p:cNvPr id="80" name="Text 41"/>
          <p:cNvSpPr txBox="1"/>
          <p:nvPr/>
        </p:nvSpPr>
        <p:spPr>
          <a:xfrm>
            <a:off x="10903428" y="402336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globe</a:t>
            </a:r>
            <a:endParaRPr lang="en-US" sz="850" dirty="0"/>
          </a:p>
        </p:txBody>
      </p:sp>
      <p:sp>
        <p:nvSpPr>
          <p:cNvPr id="81" name="Text 42"/>
          <p:cNvSpPr txBox="1"/>
          <p:nvPr/>
        </p:nvSpPr>
        <p:spPr>
          <a:xfrm>
            <a:off x="548640" y="4297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AUDIENCE · 5</a:t>
            </a:r>
            <a:endParaRPr lang="en-US" sz="1000" dirty="0"/>
          </a:p>
        </p:txBody>
      </p:sp>
      <p:pic>
        <p:nvPicPr>
          <p:cNvPr id="82" name="Image 37" descr="tv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63006" y="4544568"/>
            <a:ext cx="310896" cy="310896"/>
          </a:xfrm>
          <a:prstGeom prst="rect">
            <a:avLst/>
          </a:prstGeom>
        </p:spPr>
      </p:pic>
      <p:sp>
        <p:nvSpPr>
          <p:cNvPr id="83" name="Text 43"/>
          <p:cNvSpPr txBox="1"/>
          <p:nvPr/>
        </p:nvSpPr>
        <p:spPr>
          <a:xfrm>
            <a:off x="548640" y="489204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tv</a:t>
            </a:r>
            <a:endParaRPr lang="en-US" sz="850" dirty="0"/>
          </a:p>
        </p:txBody>
      </p:sp>
      <p:pic>
        <p:nvPicPr>
          <p:cNvPr id="84" name="Image 38" descr="desktop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502634" y="4544568"/>
            <a:ext cx="310896" cy="310896"/>
          </a:xfrm>
          <a:prstGeom prst="rect">
            <a:avLst/>
          </a:prstGeom>
        </p:spPr>
      </p:pic>
      <p:sp>
        <p:nvSpPr>
          <p:cNvPr id="85" name="Text 44"/>
          <p:cNvSpPr txBox="1"/>
          <p:nvPr/>
        </p:nvSpPr>
        <p:spPr>
          <a:xfrm>
            <a:off x="1288268" y="489204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desktop</a:t>
            </a:r>
            <a:endParaRPr lang="en-US" sz="850" dirty="0"/>
          </a:p>
        </p:txBody>
      </p:sp>
      <p:pic>
        <p:nvPicPr>
          <p:cNvPr id="86" name="Image 39" descr="mobile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242261" y="4544568"/>
            <a:ext cx="310896" cy="310896"/>
          </a:xfrm>
          <a:prstGeom prst="rect">
            <a:avLst/>
          </a:prstGeom>
        </p:spPr>
      </p:pic>
      <p:sp>
        <p:nvSpPr>
          <p:cNvPr id="87" name="Text 45"/>
          <p:cNvSpPr txBox="1"/>
          <p:nvPr/>
        </p:nvSpPr>
        <p:spPr>
          <a:xfrm>
            <a:off x="2027895" y="489204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</a:t>
            </a:r>
            <a:endParaRPr lang="en-US" sz="850" dirty="0"/>
          </a:p>
        </p:txBody>
      </p:sp>
      <p:pic>
        <p:nvPicPr>
          <p:cNvPr id="88" name="Image 40" descr="viewers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981889" y="4544568"/>
            <a:ext cx="310896" cy="310896"/>
          </a:xfrm>
          <a:prstGeom prst="rect">
            <a:avLst/>
          </a:prstGeom>
        </p:spPr>
      </p:pic>
      <p:sp>
        <p:nvSpPr>
          <p:cNvPr id="89" name="Text 46"/>
          <p:cNvSpPr txBox="1"/>
          <p:nvPr/>
        </p:nvSpPr>
        <p:spPr>
          <a:xfrm>
            <a:off x="2767523" y="489204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viewers</a:t>
            </a:r>
            <a:endParaRPr lang="en-US" sz="850" dirty="0"/>
          </a:p>
        </p:txBody>
      </p:sp>
      <p:pic>
        <p:nvPicPr>
          <p:cNvPr id="90" name="Image 41" descr="analytics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721517" y="4544568"/>
            <a:ext cx="310896" cy="310896"/>
          </a:xfrm>
          <a:prstGeom prst="rect">
            <a:avLst/>
          </a:prstGeom>
        </p:spPr>
      </p:pic>
      <p:sp>
        <p:nvSpPr>
          <p:cNvPr id="91" name="Text 47"/>
          <p:cNvSpPr txBox="1"/>
          <p:nvPr/>
        </p:nvSpPr>
        <p:spPr>
          <a:xfrm>
            <a:off x="3507151" y="489204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</a:t>
            </a:r>
            <a:endParaRPr lang="en-US" sz="850" dirty="0"/>
          </a:p>
        </p:txBody>
      </p:sp>
      <p:sp>
        <p:nvSpPr>
          <p:cNvPr id="92" name="Text 48"/>
          <p:cNvSpPr txBox="1"/>
          <p:nvPr/>
        </p:nvSpPr>
        <p:spPr>
          <a:xfrm>
            <a:off x="548640" y="5166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PLATFORM · 9</a:t>
            </a:r>
            <a:endParaRPr lang="en-US" sz="1000" dirty="0"/>
          </a:p>
        </p:txBody>
      </p:sp>
      <p:pic>
        <p:nvPicPr>
          <p:cNvPr id="93" name="Image 42" descr="dashboard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63006" y="5413248"/>
            <a:ext cx="310896" cy="310896"/>
          </a:xfrm>
          <a:prstGeom prst="rect">
            <a:avLst/>
          </a:prstGeom>
        </p:spPr>
      </p:pic>
      <p:sp>
        <p:nvSpPr>
          <p:cNvPr id="94" name="Text 49"/>
          <p:cNvSpPr txBox="1"/>
          <p:nvPr/>
        </p:nvSpPr>
        <p:spPr>
          <a:xfrm>
            <a:off x="548640" y="576072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850" dirty="0"/>
          </a:p>
        </p:txBody>
      </p:sp>
      <p:pic>
        <p:nvPicPr>
          <p:cNvPr id="95" name="Image 43" descr="tenant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502634" y="5413248"/>
            <a:ext cx="310896" cy="310896"/>
          </a:xfrm>
          <a:prstGeom prst="rect">
            <a:avLst/>
          </a:prstGeom>
        </p:spPr>
      </p:pic>
      <p:sp>
        <p:nvSpPr>
          <p:cNvPr id="96" name="Text 50"/>
          <p:cNvSpPr txBox="1"/>
          <p:nvPr/>
        </p:nvSpPr>
        <p:spPr>
          <a:xfrm>
            <a:off x="1288268" y="576072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</a:t>
            </a:r>
            <a:endParaRPr lang="en-US" sz="850" dirty="0"/>
          </a:p>
        </p:txBody>
      </p:sp>
      <p:pic>
        <p:nvPicPr>
          <p:cNvPr id="97" name="Image 44" descr="users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242261" y="5413248"/>
            <a:ext cx="310896" cy="310896"/>
          </a:xfrm>
          <a:prstGeom prst="rect">
            <a:avLst/>
          </a:prstGeom>
        </p:spPr>
      </p:pic>
      <p:sp>
        <p:nvSpPr>
          <p:cNvPr id="98" name="Text 51"/>
          <p:cNvSpPr txBox="1"/>
          <p:nvPr/>
        </p:nvSpPr>
        <p:spPr>
          <a:xfrm>
            <a:off x="2027895" y="576072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</a:t>
            </a:r>
            <a:endParaRPr lang="en-US" sz="850" dirty="0"/>
          </a:p>
        </p:txBody>
      </p:sp>
      <p:pic>
        <p:nvPicPr>
          <p:cNvPr id="99" name="Image 45" descr="key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981889" y="5413248"/>
            <a:ext cx="310896" cy="310896"/>
          </a:xfrm>
          <a:prstGeom prst="rect">
            <a:avLst/>
          </a:prstGeom>
        </p:spPr>
      </p:pic>
      <p:sp>
        <p:nvSpPr>
          <p:cNvPr id="100" name="Text 52"/>
          <p:cNvSpPr txBox="1"/>
          <p:nvPr/>
        </p:nvSpPr>
        <p:spPr>
          <a:xfrm>
            <a:off x="2767523" y="576072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</a:t>
            </a:r>
            <a:endParaRPr lang="en-US" sz="850" dirty="0"/>
          </a:p>
        </p:txBody>
      </p:sp>
      <p:pic>
        <p:nvPicPr>
          <p:cNvPr id="101" name="Image 46" descr="api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721517" y="5413248"/>
            <a:ext cx="310896" cy="310896"/>
          </a:xfrm>
          <a:prstGeom prst="rect">
            <a:avLst/>
          </a:prstGeom>
        </p:spPr>
      </p:pic>
      <p:sp>
        <p:nvSpPr>
          <p:cNvPr id="102" name="Text 53"/>
          <p:cNvSpPr txBox="1"/>
          <p:nvPr/>
        </p:nvSpPr>
        <p:spPr>
          <a:xfrm>
            <a:off x="3507151" y="576072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</a:t>
            </a:r>
            <a:endParaRPr lang="en-US" sz="850" dirty="0"/>
          </a:p>
        </p:txBody>
      </p:sp>
      <p:pic>
        <p:nvPicPr>
          <p:cNvPr id="103" name="Image 47" descr="webhook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461144" y="5413248"/>
            <a:ext cx="310896" cy="310896"/>
          </a:xfrm>
          <a:prstGeom prst="rect">
            <a:avLst/>
          </a:prstGeom>
        </p:spPr>
      </p:pic>
      <p:sp>
        <p:nvSpPr>
          <p:cNvPr id="104" name="Text 54"/>
          <p:cNvSpPr txBox="1"/>
          <p:nvPr/>
        </p:nvSpPr>
        <p:spPr>
          <a:xfrm>
            <a:off x="4246778" y="576072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webhook</a:t>
            </a:r>
            <a:endParaRPr lang="en-US" sz="850" dirty="0"/>
          </a:p>
        </p:txBody>
      </p:sp>
      <p:pic>
        <p:nvPicPr>
          <p:cNvPr id="105" name="Image 48" descr="bell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5200772" y="5413248"/>
            <a:ext cx="310896" cy="310896"/>
          </a:xfrm>
          <a:prstGeom prst="rect">
            <a:avLst/>
          </a:prstGeom>
        </p:spPr>
      </p:pic>
      <p:sp>
        <p:nvSpPr>
          <p:cNvPr id="106" name="Text 55"/>
          <p:cNvSpPr txBox="1"/>
          <p:nvPr/>
        </p:nvSpPr>
        <p:spPr>
          <a:xfrm>
            <a:off x="4986406" y="576072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bell</a:t>
            </a:r>
            <a:endParaRPr lang="en-US" sz="850" dirty="0"/>
          </a:p>
        </p:txBody>
      </p:sp>
      <p:pic>
        <p:nvPicPr>
          <p:cNvPr id="107" name="Image 49" descr="alert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5940400" y="5413248"/>
            <a:ext cx="310896" cy="310896"/>
          </a:xfrm>
          <a:prstGeom prst="rect">
            <a:avLst/>
          </a:prstGeom>
        </p:spPr>
      </p:pic>
      <p:sp>
        <p:nvSpPr>
          <p:cNvPr id="108" name="Text 56"/>
          <p:cNvSpPr txBox="1"/>
          <p:nvPr/>
        </p:nvSpPr>
        <p:spPr>
          <a:xfrm>
            <a:off x="5726034" y="576072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</a:t>
            </a:r>
            <a:endParaRPr lang="en-US" sz="850" dirty="0"/>
          </a:p>
        </p:txBody>
      </p:sp>
      <p:pic>
        <p:nvPicPr>
          <p:cNvPr id="109" name="Image 50" descr="settings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680027" y="5413248"/>
            <a:ext cx="310896" cy="310896"/>
          </a:xfrm>
          <a:prstGeom prst="rect">
            <a:avLst/>
          </a:prstGeom>
        </p:spPr>
      </p:pic>
      <p:sp>
        <p:nvSpPr>
          <p:cNvPr id="110" name="Text 57"/>
          <p:cNvSpPr txBox="1"/>
          <p:nvPr/>
        </p:nvSpPr>
        <p:spPr>
          <a:xfrm>
            <a:off x="6465661" y="5760720"/>
            <a:ext cx="739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settings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DIAGRAMS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A picture of signal flow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828800"/>
            <a:ext cx="4480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 flows left to right. Control above, storage below, audiences on the right.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Nodes are 56px panel tiles with a volt icon, a short label and one mono detail line.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path: 2px volt. Secondary: 1.5px ink-faint. Backup: dashed.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Groups are dashed boundaries. Tint only the Volt group.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what Volt does, never how it is built.</a:t>
            </a:r>
            <a:endParaRPr lang="en-US" sz="1600" dirty="0"/>
          </a:p>
        </p:txBody>
      </p:sp>
      <p:sp>
        <p:nvSpPr>
          <p:cNvPr id="5" name="Group Volt platform"/>
          <p:cNvSpPr/>
          <p:nvPr/>
        </p:nvSpPr>
        <p:spPr>
          <a:xfrm>
            <a:off x="6720840" y="2514600"/>
            <a:ext cx="2743200" cy="1828800"/>
          </a:xfrm>
          <a:prstGeom prst="roundRect">
            <a:avLst>
              <a:gd name="adj" fmla="val 6500"/>
            </a:avLst>
          </a:prstGeom>
          <a:solidFill>
            <a:srgbClr val="5569F2">
              <a:alpha val="14000"/>
            </a:srgbClr>
          </a:solidFill>
          <a:ln w="12700">
            <a:solidFill>
              <a:srgbClr val="3A4152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6922008" y="26609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98A1B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VOLT PLATFORM</a:t>
            </a:r>
            <a:endParaRPr lang="en-US" sz="1000" dirty="0"/>
          </a:p>
        </p:txBody>
      </p:sp>
      <p:sp>
        <p:nvSpPr>
          <p:cNvPr id="7" name="Connector"/>
          <p:cNvSpPr/>
          <p:nvPr/>
        </p:nvSpPr>
        <p:spPr>
          <a:xfrm>
            <a:off x="6135624" y="3383280"/>
            <a:ext cx="941832" cy="0"/>
          </a:xfrm>
          <a:prstGeom prst="line">
            <a:avLst/>
          </a:prstGeom>
          <a:noFill/>
          <a:ln w="25400">
            <a:solidFill>
              <a:srgbClr val="5569F2"/>
            </a:solidFill>
            <a:prstDash val="solid"/>
            <a:tailEnd type="arrow"/>
          </a:ln>
        </p:spPr>
      </p:sp>
      <p:sp>
        <p:nvSpPr>
          <p:cNvPr id="8" name="Connector"/>
          <p:cNvSpPr/>
          <p:nvPr/>
        </p:nvSpPr>
        <p:spPr>
          <a:xfrm>
            <a:off x="7644384" y="3383280"/>
            <a:ext cx="804672" cy="0"/>
          </a:xfrm>
          <a:prstGeom prst="line">
            <a:avLst/>
          </a:prstGeom>
          <a:noFill/>
          <a:ln w="25400">
            <a:solidFill>
              <a:srgbClr val="5569F2"/>
            </a:solidFill>
            <a:prstDash val="solid"/>
            <a:tailEnd type="arrow"/>
          </a:ln>
        </p:spPr>
      </p:sp>
      <p:sp>
        <p:nvSpPr>
          <p:cNvPr id="9" name="Connector"/>
          <p:cNvSpPr/>
          <p:nvPr/>
        </p:nvSpPr>
        <p:spPr>
          <a:xfrm>
            <a:off x="9015984" y="3383280"/>
            <a:ext cx="758952" cy="0"/>
          </a:xfrm>
          <a:prstGeom prst="line">
            <a:avLst/>
          </a:prstGeom>
          <a:noFill/>
          <a:ln w="25400">
            <a:solidFill>
              <a:srgbClr val="5569F2"/>
            </a:solidFill>
            <a:prstDash val="solid"/>
            <a:tailEnd type="arrow"/>
          </a:ln>
        </p:spPr>
      </p:sp>
      <p:sp>
        <p:nvSpPr>
          <p:cNvPr id="10" name="Connector"/>
          <p:cNvSpPr/>
          <p:nvPr/>
        </p:nvSpPr>
        <p:spPr>
          <a:xfrm>
            <a:off x="6135624" y="4892040"/>
            <a:ext cx="813816" cy="0"/>
          </a:xfrm>
          <a:prstGeom prst="line">
            <a:avLst/>
          </a:prstGeom>
          <a:noFill/>
          <a:ln w="19050">
            <a:solidFill>
              <a:srgbClr val="5569F2"/>
            </a:solidFill>
            <a:prstDash val="dash"/>
          </a:ln>
        </p:spPr>
      </p:sp>
      <p:sp>
        <p:nvSpPr>
          <p:cNvPr id="11" name="Connector"/>
          <p:cNvSpPr/>
          <p:nvPr/>
        </p:nvSpPr>
        <p:spPr>
          <a:xfrm flipV="1">
            <a:off x="6949440" y="3547872"/>
            <a:ext cx="0" cy="1344168"/>
          </a:xfrm>
          <a:prstGeom prst="line">
            <a:avLst/>
          </a:prstGeom>
          <a:noFill/>
          <a:ln w="19050">
            <a:solidFill>
              <a:srgbClr val="5569F2"/>
            </a:solidFill>
            <a:prstDash val="dash"/>
          </a:ln>
        </p:spPr>
      </p:sp>
      <p:sp>
        <p:nvSpPr>
          <p:cNvPr id="12" name="Connector"/>
          <p:cNvSpPr/>
          <p:nvPr/>
        </p:nvSpPr>
        <p:spPr>
          <a:xfrm>
            <a:off x="6949440" y="3547872"/>
            <a:ext cx="128016" cy="0"/>
          </a:xfrm>
          <a:prstGeom prst="line">
            <a:avLst/>
          </a:prstGeom>
          <a:noFill/>
          <a:ln w="19050">
            <a:solidFill>
              <a:srgbClr val="5569F2"/>
            </a:solidFill>
            <a:prstDash val="dash"/>
            <a:tailEnd type="arrow"/>
          </a:ln>
        </p:spPr>
      </p:sp>
      <p:sp>
        <p:nvSpPr>
          <p:cNvPr id="13" name="Connector"/>
          <p:cNvSpPr/>
          <p:nvPr/>
        </p:nvSpPr>
        <p:spPr>
          <a:xfrm>
            <a:off x="10341864" y="3383280"/>
            <a:ext cx="310896" cy="0"/>
          </a:xfrm>
          <a:prstGeom prst="line">
            <a:avLst/>
          </a:prstGeom>
          <a:noFill/>
          <a:ln w="25400">
            <a:solidFill>
              <a:srgbClr val="5569F2"/>
            </a:solidFill>
            <a:prstDash val="solid"/>
          </a:ln>
        </p:spPr>
      </p:sp>
      <p:sp>
        <p:nvSpPr>
          <p:cNvPr id="14" name="Connector"/>
          <p:cNvSpPr/>
          <p:nvPr/>
        </p:nvSpPr>
        <p:spPr>
          <a:xfrm>
            <a:off x="10652760" y="2743200"/>
            <a:ext cx="0" cy="1280160"/>
          </a:xfrm>
          <a:prstGeom prst="line">
            <a:avLst/>
          </a:prstGeom>
          <a:noFill/>
          <a:ln w="25400">
            <a:solidFill>
              <a:srgbClr val="5569F2"/>
            </a:solidFill>
            <a:prstDash val="solid"/>
          </a:ln>
        </p:spPr>
      </p:sp>
      <p:sp>
        <p:nvSpPr>
          <p:cNvPr id="15" name="Connector"/>
          <p:cNvSpPr/>
          <p:nvPr/>
        </p:nvSpPr>
        <p:spPr>
          <a:xfrm>
            <a:off x="10652760" y="2743200"/>
            <a:ext cx="356616" cy="0"/>
          </a:xfrm>
          <a:prstGeom prst="line">
            <a:avLst/>
          </a:prstGeom>
          <a:noFill/>
          <a:ln w="25400">
            <a:solidFill>
              <a:srgbClr val="5569F2"/>
            </a:solidFill>
            <a:prstDash val="solid"/>
            <a:tailEnd type="arrow"/>
          </a:ln>
        </p:spPr>
      </p:sp>
      <p:sp>
        <p:nvSpPr>
          <p:cNvPr id="16" name="Connector"/>
          <p:cNvSpPr/>
          <p:nvPr/>
        </p:nvSpPr>
        <p:spPr>
          <a:xfrm>
            <a:off x="10652760" y="4023360"/>
            <a:ext cx="356616" cy="0"/>
          </a:xfrm>
          <a:prstGeom prst="line">
            <a:avLst/>
          </a:prstGeom>
          <a:noFill/>
          <a:ln w="25400">
            <a:solidFill>
              <a:srgbClr val="5569F2"/>
            </a:solidFill>
            <a:prstDash val="solid"/>
            <a:tailEnd type="arrow"/>
          </a:ln>
        </p:spPr>
      </p:sp>
      <p:sp>
        <p:nvSpPr>
          <p:cNvPr id="17" name="Connector"/>
          <p:cNvSpPr/>
          <p:nvPr/>
        </p:nvSpPr>
        <p:spPr>
          <a:xfrm>
            <a:off x="8732520" y="4096512"/>
            <a:ext cx="0" cy="740664"/>
          </a:xfrm>
          <a:prstGeom prst="line">
            <a:avLst/>
          </a:prstGeom>
          <a:noFill/>
          <a:ln w="19050">
            <a:solidFill>
              <a:srgbClr val="6A7387"/>
            </a:solidFill>
            <a:prstDash val="solid"/>
            <a:tailEnd type="arrow"/>
          </a:ln>
        </p:spPr>
      </p:sp>
      <p:sp>
        <p:nvSpPr>
          <p:cNvPr id="18" name="Node source"/>
          <p:cNvSpPr/>
          <p:nvPr/>
        </p:nvSpPr>
        <p:spPr>
          <a:xfrm>
            <a:off x="5568696" y="3099816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19" name="Image 0" descr="sourc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0428" y="3241548"/>
            <a:ext cx="283464" cy="283464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5074920" y="37398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Camera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983480" y="396849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SRT</a:t>
            </a:r>
            <a:endParaRPr lang="en-US" sz="950" dirty="0"/>
          </a:p>
        </p:txBody>
      </p:sp>
      <p:sp>
        <p:nvSpPr>
          <p:cNvPr id="22" name="Node source"/>
          <p:cNvSpPr/>
          <p:nvPr/>
        </p:nvSpPr>
        <p:spPr>
          <a:xfrm>
            <a:off x="5568696" y="4608576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23" name="Image 1" descr="sourc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0428" y="4750308"/>
            <a:ext cx="283464" cy="28346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074920" y="52486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Backup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4983480" y="54772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SRT</a:t>
            </a:r>
            <a:endParaRPr lang="en-US" sz="950" dirty="0"/>
          </a:p>
        </p:txBody>
      </p:sp>
      <p:sp>
        <p:nvSpPr>
          <p:cNvPr id="26" name="Node ingest"/>
          <p:cNvSpPr/>
          <p:nvPr/>
        </p:nvSpPr>
        <p:spPr>
          <a:xfrm>
            <a:off x="7077456" y="3099816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27" name="Image 2" descr="inges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188" y="3241548"/>
            <a:ext cx="283464" cy="28346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6583680" y="37398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Ingest</a:t>
            </a:r>
            <a:endParaRPr lang="en-US" sz="1200" dirty="0"/>
          </a:p>
        </p:txBody>
      </p:sp>
      <p:sp>
        <p:nvSpPr>
          <p:cNvPr id="29" name="Node packager"/>
          <p:cNvSpPr/>
          <p:nvPr/>
        </p:nvSpPr>
        <p:spPr>
          <a:xfrm>
            <a:off x="8449056" y="3099816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30" name="Image 3" descr="packager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0788" y="3241548"/>
            <a:ext cx="283464" cy="283464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955280" y="37398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Packager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7863840" y="396849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HLS · DASH</a:t>
            </a:r>
            <a:endParaRPr lang="en-US" sz="950" dirty="0"/>
          </a:p>
        </p:txBody>
      </p:sp>
      <p:sp>
        <p:nvSpPr>
          <p:cNvPr id="33" name="Node cdn"/>
          <p:cNvSpPr/>
          <p:nvPr/>
        </p:nvSpPr>
        <p:spPr>
          <a:xfrm>
            <a:off x="9774936" y="3099816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34" name="Image 4" descr="cdn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6668" y="3241548"/>
            <a:ext cx="283464" cy="283464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9281160" y="37398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CDN</a:t>
            </a:r>
            <a:endParaRPr lang="en-US" sz="1200" dirty="0"/>
          </a:p>
        </p:txBody>
      </p:sp>
      <p:sp>
        <p:nvSpPr>
          <p:cNvPr id="36" name="Node tv"/>
          <p:cNvSpPr/>
          <p:nvPr/>
        </p:nvSpPr>
        <p:spPr>
          <a:xfrm>
            <a:off x="11009376" y="2459736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37" name="Image 5" descr="tv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1108" y="2601468"/>
            <a:ext cx="283464" cy="283464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10515600" y="30998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TV</a:t>
            </a:r>
            <a:endParaRPr lang="en-US" sz="1200" dirty="0"/>
          </a:p>
        </p:txBody>
      </p:sp>
      <p:sp>
        <p:nvSpPr>
          <p:cNvPr id="39" name="Node mobile"/>
          <p:cNvSpPr/>
          <p:nvPr/>
        </p:nvSpPr>
        <p:spPr>
          <a:xfrm>
            <a:off x="11009376" y="3739896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40" name="Image 6" descr="mobile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51108" y="3881628"/>
            <a:ext cx="283464" cy="283464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10515600" y="43799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Mobile</a:t>
            </a:r>
            <a:endParaRPr lang="en-US" sz="1200" dirty="0"/>
          </a:p>
        </p:txBody>
      </p:sp>
      <p:sp>
        <p:nvSpPr>
          <p:cNvPr id="42" name="Node recording"/>
          <p:cNvSpPr/>
          <p:nvPr/>
        </p:nvSpPr>
        <p:spPr>
          <a:xfrm>
            <a:off x="8449056" y="4837176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43" name="Image 7" descr="recording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0788" y="4978908"/>
            <a:ext cx="283464" cy="283464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7955280" y="54772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Recording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SLIDES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Decks start from the template</a:t>
            </a:r>
            <a:endParaRPr lang="en-US" sz="3400" dirty="0"/>
          </a:p>
        </p:txBody>
      </p:sp>
      <p:pic>
        <p:nvPicPr>
          <p:cNvPr id="4" name="Image 0" descr="/tmp/claude-0/-home-claude/1f4339df-fb00-509e-93e4-fe12d7533144/scratchpad/office/work/r/thumb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2602154" cy="14637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2602154" cy="1463748"/>
          </a:xfrm>
          <a:prstGeom prst="rect">
            <a:avLst/>
          </a:prstGeom>
          <a:ln w="9525">
            <a:solidFill>
              <a:srgbClr val="3A415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383988"/>
            <a:ext cx="26021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</a:t>
            </a:r>
            <a:endParaRPr lang="en-US" sz="1050" dirty="0"/>
          </a:p>
        </p:txBody>
      </p:sp>
      <p:pic>
        <p:nvPicPr>
          <p:cNvPr id="7" name="Image 1" descr="/tmp/claude-0/-home-claude/1f4339df-fb00-509e-93e4-fe12d7533144/scratchpad/office/work/r/thumb-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394" y="1828800"/>
            <a:ext cx="2602154" cy="146374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379394" y="1828800"/>
            <a:ext cx="2602154" cy="1463748"/>
          </a:xfrm>
          <a:prstGeom prst="rect">
            <a:avLst/>
          </a:prstGeom>
          <a:ln w="9525">
            <a:solidFill>
              <a:srgbClr val="3A415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379394" y="3383988"/>
            <a:ext cx="26021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Content: one idea</a:t>
            </a:r>
            <a:endParaRPr lang="en-US" sz="1050" dirty="0"/>
          </a:p>
        </p:txBody>
      </p:sp>
      <p:pic>
        <p:nvPicPr>
          <p:cNvPr id="10" name="Image 2" descr="/tmp/claude-0/-home-claude/1f4339df-fb00-509e-93e4-fe12d7533144/scratchpad/office/work/r/thumb-0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148" y="1828800"/>
            <a:ext cx="2602154" cy="146374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210148" y="1828800"/>
            <a:ext cx="2602154" cy="1463748"/>
          </a:xfrm>
          <a:prstGeom prst="rect">
            <a:avLst/>
          </a:prstGeom>
          <a:ln w="9525">
            <a:solidFill>
              <a:srgbClr val="3A4152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210148" y="3383988"/>
            <a:ext cx="26021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Diagram</a:t>
            </a:r>
            <a:endParaRPr lang="en-US" sz="1050" dirty="0"/>
          </a:p>
        </p:txBody>
      </p:sp>
      <p:pic>
        <p:nvPicPr>
          <p:cNvPr id="13" name="Image 3" descr="/tmp/claude-0/-home-claude/1f4339df-fb00-509e-93e4-fe12d7533144/scratchpad/office/work/r/thumb-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0901" y="1828800"/>
            <a:ext cx="2602154" cy="146374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9040901" y="1828800"/>
            <a:ext cx="2602154" cy="1463748"/>
          </a:xfrm>
          <a:prstGeom prst="rect">
            <a:avLst/>
          </a:prstGeom>
          <a:ln w="9525">
            <a:solidFill>
              <a:srgbClr val="3A4152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9040901" y="3383988"/>
            <a:ext cx="26021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 appendix</a:t>
            </a:r>
            <a:endParaRPr lang="en-US" sz="105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3794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Canvas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2103120" y="3794760"/>
            <a:ext cx="380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16:9 on ground. Paper for dense appendices.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6233008" y="3794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Margins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7787488" y="3794760"/>
            <a:ext cx="380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64px at 1920 wide. Content aligns to the left margin.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45079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Content slide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2103120" y="4507992"/>
            <a:ext cx="380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Eyebrow, title, then one idea: a screen, a diagram, three facts or a quote.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233008" y="45079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Bullets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787488" y="4507992"/>
            <a:ext cx="380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a wall. Five is the ceiling.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2212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Footer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2103120" y="5221224"/>
            <a:ext cx="380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lockup bottom-left, page number bottom-right, nothing else.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6233008" y="52212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Charts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7787488" y="5221224"/>
            <a:ext cx="380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volt first series, current second, ink-muted for comparison.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ADVERTISING AND SOCIAL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One message per piece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828800"/>
            <a:ext cx="5852160" cy="3291840"/>
          </a:xfrm>
          <a:prstGeom prst="roundRect">
            <a:avLst>
              <a:gd name="adj" fmla="val 1667"/>
            </a:avLst>
          </a:prstGeom>
          <a:solidFill>
            <a:srgbClr val="0F1218"/>
          </a:solidFill>
          <a:ln w="9525">
            <a:solidFill>
              <a:srgbClr val="2A2E37"/>
            </a:solidFill>
            <a:prstDash val="solid"/>
          </a:ln>
        </p:spPr>
      </p:sp>
      <p:sp>
        <p:nvSpPr>
          <p:cNvPr id="5" name="Ad blend block"/>
          <p:cNvSpPr/>
          <p:nvPr/>
        </p:nvSpPr>
        <p:spPr>
          <a:xfrm>
            <a:off x="4114800" y="1828800"/>
            <a:ext cx="2286000" cy="3291840"/>
          </a:xfrm>
          <a:prstGeom prst="roundRect">
            <a:avLst>
              <a:gd name="adj" fmla="val 4400"/>
            </a:avLst>
          </a:prstGeom>
          <a:gradFill rotWithShape="1">
            <a:gsLst>
              <a:gs pos="0">
                <a:srgbClr val="5B8CFF"/>
              </a:gs>
              <a:gs pos="100000">
                <a:srgbClr val="4F46E5"/>
              </a:gs>
            </a:gsLst>
            <a:lin ang="3000000" scaled="0"/>
          </a:gradFill>
          <a:ln/>
        </p:spPr>
      </p:sp>
      <p:sp>
        <p:nvSpPr>
          <p:cNvPr id="6" name="Slit"/>
          <p:cNvSpPr/>
          <p:nvPr/>
        </p:nvSpPr>
        <p:spPr>
          <a:xfrm rot="780000">
            <a:off x="5216300" y="1550892"/>
            <a:ext cx="146304" cy="3847655"/>
          </a:xfrm>
          <a:prstGeom prst="rect">
            <a:avLst/>
          </a:prstGeom>
          <a:solidFill>
            <a:srgbClr val="0F121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240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LIVE </a:t>
            </a:r>
            <a:pPr indent="0" marL="0">
              <a:buNone/>
            </a:pPr>
            <a:r>
              <a:rPr lang="en-US" sz="1000" b="1" spc="140" kern="0" dirty="0">
                <a:solidFill>
                  <a:srgbClr val="8B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 VOD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146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20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Every live hour becomes a library.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657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every channel as it airs.</a:t>
            </a:r>
            <a:endParaRPr lang="en-US" sz="1100" dirty="0"/>
          </a:p>
        </p:txBody>
      </p:sp>
      <p:sp>
        <p:nvSpPr>
          <p:cNvPr id="10" name="Button Book a demo"/>
          <p:cNvSpPr/>
          <p:nvPr/>
        </p:nvSpPr>
        <p:spPr>
          <a:xfrm>
            <a:off x="868680" y="4069080"/>
            <a:ext cx="1188720" cy="347472"/>
          </a:xfrm>
          <a:prstGeom prst="roundRect">
            <a:avLst>
              <a:gd name="adj" fmla="val 18421"/>
            </a:avLst>
          </a:prstGeom>
          <a:solidFill>
            <a:srgbClr val="4F46E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069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Book a demo</a:t>
            </a:r>
            <a:endParaRPr lang="en-US" sz="1400" dirty="0"/>
          </a:p>
        </p:txBody>
      </p:sp>
      <p:pic>
        <p:nvPicPr>
          <p:cNvPr id="12" name="Image 0" descr="Volt Streamin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736592"/>
            <a:ext cx="1299411" cy="16459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48640" y="52578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 field, one blend block, type on the ground, lockup always present, space-12 safe area for crops.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6766560" y="1828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98A1B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PROVEN HEADLINES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766560" y="2148840"/>
            <a:ext cx="4876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9ECF4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Go live. Stay live.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766560" y="2560320"/>
            <a:ext cx="4876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9ECF4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Every live hour becomes a library.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6766560" y="2971800"/>
            <a:ext cx="4876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9ECF4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Turn your archive into a channel.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766560" y="3383280"/>
            <a:ext cx="4876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9ECF4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Live </a:t>
            </a:r>
            <a:pPr indent="0" marL="0">
              <a:buNone/>
            </a:pPr>
            <a:r>
              <a:rPr lang="en-US" sz="1700" dirty="0">
                <a:solidFill>
                  <a:srgbClr val="E9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indent="0" marL="0">
              <a:buNone/>
            </a:pPr>
            <a:r>
              <a:rPr lang="en-US" sz="1700" dirty="0">
                <a:solidFill>
                  <a:srgbClr val="E9ECF4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 VOD in one take.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6766560" y="3977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98A1B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FORMATS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766560" y="4561393"/>
            <a:ext cx="912937" cy="513527"/>
          </a:xfrm>
          <a:prstGeom prst="rect">
            <a:avLst/>
          </a:prstGeom>
          <a:solidFill>
            <a:srgbClr val="171B24"/>
          </a:solidFill>
          <a:ln w="9525">
            <a:solidFill>
              <a:srgbClr val="3A415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766560" y="5138928"/>
            <a:ext cx="9129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9EC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16:9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6766560" y="53583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1920×1080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7844089" y="4561393"/>
            <a:ext cx="513527" cy="513527"/>
          </a:xfrm>
          <a:prstGeom prst="rect">
            <a:avLst/>
          </a:prstGeom>
          <a:solidFill>
            <a:srgbClr val="171B24"/>
          </a:solidFill>
          <a:ln w="9525">
            <a:solidFill>
              <a:srgbClr val="3A415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844089" y="5138928"/>
            <a:ext cx="513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9EC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1:1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7844089" y="53583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1080×1080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522208" y="4433011"/>
            <a:ext cx="513527" cy="641909"/>
          </a:xfrm>
          <a:prstGeom prst="rect">
            <a:avLst/>
          </a:prstGeom>
          <a:solidFill>
            <a:srgbClr val="171B24"/>
          </a:solidFill>
          <a:ln w="9525">
            <a:solidFill>
              <a:srgbClr val="3A415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522208" y="5138928"/>
            <a:ext cx="513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9EC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4:5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8522208" y="53583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1080×1350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9200327" y="4776314"/>
            <a:ext cx="570586" cy="298606"/>
          </a:xfrm>
          <a:prstGeom prst="rect">
            <a:avLst/>
          </a:prstGeom>
          <a:solidFill>
            <a:srgbClr val="171B24"/>
          </a:solidFill>
          <a:ln w="9525">
            <a:solidFill>
              <a:srgbClr val="3A415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200327" y="5138928"/>
            <a:ext cx="5705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9EC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Link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9200327" y="53583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1200×628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935505" y="4884725"/>
            <a:ext cx="228234" cy="190195"/>
          </a:xfrm>
          <a:prstGeom prst="rect">
            <a:avLst/>
          </a:prstGeom>
          <a:solidFill>
            <a:srgbClr val="171B24"/>
          </a:solidFill>
          <a:ln w="9525">
            <a:solidFill>
              <a:srgbClr val="3A41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935505" y="51389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9EC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MPU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9935505" y="53583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300×250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10603017" y="5006450"/>
            <a:ext cx="553848" cy="68470"/>
          </a:xfrm>
          <a:prstGeom prst="rect">
            <a:avLst/>
          </a:prstGeom>
          <a:solidFill>
            <a:srgbClr val="171B24"/>
          </a:solidFill>
          <a:ln w="9525">
            <a:solidFill>
              <a:srgbClr val="3A4152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0603017" y="5138928"/>
            <a:ext cx="553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9EC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Leader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603017" y="53583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728×90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IMAGERY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Real screens, real broadcast work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828800"/>
            <a:ext cx="3515258" cy="4069080"/>
          </a:xfrm>
          <a:prstGeom prst="roundRect">
            <a:avLst>
              <a:gd name="adj" fmla="val 2861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pic>
        <p:nvPicPr>
          <p:cNvPr id="5" name="Image 0" descr="/tmp/claude-0/-home-claude/1f4339df-fb00-509e-93e4-fe12d7533144/scratchpad/office/work/img/ga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57400"/>
            <a:ext cx="3058058" cy="516047"/>
          </a:xfrm>
          <a:prstGeom prst="rect">
            <a:avLst/>
          </a:prstGeom>
        </p:spPr>
      </p:pic>
      <p:pic>
        <p:nvPicPr>
          <p:cNvPr id="6" name="Image 1" descr="/tmp/claude-0/-home-claude/1f4339df-fb00-509e-93e4-fe12d7533144/scratchpad/office/work/img/multi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10607"/>
            <a:ext cx="1895996" cy="113759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397764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Product screens are the hero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42976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room UI, cropped to the part that tells the story. Demo tenants and channels only.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4338218" y="1828800"/>
            <a:ext cx="3515258" cy="4069080"/>
          </a:xfrm>
          <a:prstGeom prst="roundRect">
            <a:avLst>
              <a:gd name="adj" fmla="val 2861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sp>
        <p:nvSpPr>
          <p:cNvPr id="10" name="Node image"/>
          <p:cNvSpPr/>
          <p:nvPr/>
        </p:nvSpPr>
        <p:spPr>
          <a:xfrm>
            <a:off x="4612538" y="2103120"/>
            <a:ext cx="566928" cy="566928"/>
          </a:xfrm>
          <a:prstGeom prst="roundRect">
            <a:avLst>
              <a:gd name="adj" fmla="val 19643"/>
            </a:avLst>
          </a:prstGeom>
          <a:solidFill>
            <a:srgbClr val="1C2130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11" name="Image 2" descr="imag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270" y="2244852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612538" y="288036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Photography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4612538" y="3200400"/>
            <a:ext cx="296661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rooms, OB trucks, commentary booths, stadiums at night, radio studios.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Cool and low-key, lit by screens.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A73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stock people pointing at laptops, glowing globes or data swooshes.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8127797" y="1828800"/>
            <a:ext cx="3515258" cy="4069080"/>
          </a:xfrm>
          <a:prstGeom prst="roundRect">
            <a:avLst>
              <a:gd name="adj" fmla="val 2861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sp>
        <p:nvSpPr>
          <p:cNvPr id="15" name="Volt blend block"/>
          <p:cNvSpPr/>
          <p:nvPr/>
        </p:nvSpPr>
        <p:spPr>
          <a:xfrm>
            <a:off x="8402117" y="2103120"/>
            <a:ext cx="2966618" cy="1645920"/>
          </a:xfrm>
          <a:prstGeom prst="roundRect">
            <a:avLst>
              <a:gd name="adj" fmla="val 6111"/>
            </a:avLst>
          </a:prstGeom>
          <a:gradFill rotWithShape="1">
            <a:gsLst>
              <a:gs pos="0">
                <a:srgbClr val="5B8CFF"/>
              </a:gs>
              <a:gs pos="100000">
                <a:srgbClr val="4F46E5"/>
              </a:gs>
            </a:gsLst>
            <a:lin ang="3000000" scaled="0"/>
          </a:gradFill>
          <a:ln/>
        </p:spPr>
      </p:sp>
      <p:sp>
        <p:nvSpPr>
          <p:cNvPr id="16" name="Slit"/>
          <p:cNvSpPr/>
          <p:nvPr/>
        </p:nvSpPr>
        <p:spPr>
          <a:xfrm rot="780000">
            <a:off x="10044191" y="1846860"/>
            <a:ext cx="146304" cy="2158441"/>
          </a:xfrm>
          <a:prstGeom prst="rect">
            <a:avLst/>
          </a:prstGeom>
          <a:solidFill>
            <a:srgbClr val="171B24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402117" y="397764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CF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slit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429768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only graphic device: the mark's 6:26 diagonal, about 77°. It may cut a colour block, crop a photo edge or split a before and after. Once per layout.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B9CFF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FILES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spc="-6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Templates and where files live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828800"/>
            <a:ext cx="5760720" cy="4069080"/>
          </a:xfrm>
          <a:prstGeom prst="roundRect">
            <a:avLst>
              <a:gd name="adj" fmla="val 2472"/>
            </a:avLst>
          </a:prstGeom>
          <a:solidFill>
            <a:srgbClr val="171B24"/>
          </a:solidFill>
          <a:ln w="9525">
            <a:solidFill>
              <a:srgbClr val="2226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299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brand/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20299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62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9EC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logos/svg/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3362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lockups, short lockups, mark, tile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426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9EC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logos/png/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6426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1200w lockups, 512 marks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9489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9EC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logos/eps/  logos/pdf/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9489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255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9EC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logos/app-icon/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255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tile 16 to 1024, favicon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5615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9EC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icons/svg/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35615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currentColor, volt, ink, white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8679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9EC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icons/png/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38679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96px volt, ink, white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1742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9EC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icons/eps/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41742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480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9EC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fonts/desktop/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4480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TTFs for Office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7868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9EC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fonts/web/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474720" y="47868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 WOFF2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0932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9EC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tokens/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474720" y="50932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volt-tokens.css, .json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3995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9EC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templates/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474720" y="53995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Office templates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67512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98A1B6"/>
                </a:solidFill>
                <a:latin typeface="Archivo Expanded SemiBold" pitchFamily="34" charset="0"/>
                <a:ea typeface="Archivo Expanded SemiBold" pitchFamily="34" charset="-122"/>
                <a:cs typeface="Archivo Expanded SemiBold" pitchFamily="34" charset="-120"/>
              </a:rPr>
              <a:t>TEMPLATES</a:t>
            </a:r>
            <a:endParaRPr lang="en-US" sz="1000" dirty="0"/>
          </a:p>
        </p:txBody>
      </p:sp>
      <p:sp>
        <p:nvSpPr>
          <p:cNvPr id="30" name="Node media"/>
          <p:cNvSpPr/>
          <p:nvPr/>
        </p:nvSpPr>
        <p:spPr>
          <a:xfrm>
            <a:off x="6675120" y="2194560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31" name="Image 0" descr="media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36" y="2322576"/>
            <a:ext cx="256032" cy="256032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7360920" y="2212848"/>
            <a:ext cx="4282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C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Volt_Slide_Template.potx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7360920" y="2468880"/>
            <a:ext cx="4282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PowerPoint template: every layout, Control room and Paper</a:t>
            </a:r>
            <a:endParaRPr lang="en-US" sz="1150" dirty="0"/>
          </a:p>
        </p:txBody>
      </p:sp>
      <p:sp>
        <p:nvSpPr>
          <p:cNvPr id="34" name="Node media"/>
          <p:cNvSpPr/>
          <p:nvPr/>
        </p:nvSpPr>
        <p:spPr>
          <a:xfrm>
            <a:off x="6675120" y="3063240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35" name="Image 1" descr="media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36" y="3191256"/>
            <a:ext cx="256032" cy="256032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7360920" y="3081528"/>
            <a:ext cx="4282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C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Volt_Slide_Template.pptx</a:t>
            </a:r>
            <a:endParaRPr lang="en-US" sz="1150" dirty="0"/>
          </a:p>
        </p:txBody>
      </p:sp>
      <p:sp>
        <p:nvSpPr>
          <p:cNvPr id="37" name="Text 33"/>
          <p:cNvSpPr txBox="1"/>
          <p:nvPr/>
        </p:nvSpPr>
        <p:spPr>
          <a:xfrm>
            <a:off x="7360920" y="3337560"/>
            <a:ext cx="4282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deck with each layout filled</a:t>
            </a:r>
            <a:endParaRPr lang="en-US" sz="1150" dirty="0"/>
          </a:p>
        </p:txBody>
      </p:sp>
      <p:sp>
        <p:nvSpPr>
          <p:cNvPr id="38" name="Node media"/>
          <p:cNvSpPr/>
          <p:nvPr/>
        </p:nvSpPr>
        <p:spPr>
          <a:xfrm>
            <a:off x="6675120" y="3931920"/>
            <a:ext cx="512064" cy="512064"/>
          </a:xfrm>
          <a:prstGeom prst="roundRect">
            <a:avLst>
              <a:gd name="adj" fmla="val 19643"/>
            </a:avLst>
          </a:prstGeom>
          <a:solidFill>
            <a:srgbClr val="171B24"/>
          </a:solidFill>
          <a:ln w="9525">
            <a:solidFill>
              <a:srgbClr val="2A2E37"/>
            </a:solidFill>
            <a:prstDash val="solid"/>
          </a:ln>
        </p:spPr>
      </p:sp>
      <p:pic>
        <p:nvPicPr>
          <p:cNvPr id="39" name="Image 2" descr="media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36" y="4059936"/>
            <a:ext cx="256032" cy="256032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7360920" y="3950208"/>
            <a:ext cx="4282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C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Volt_Brand_Style_Guide.pptx</a:t>
            </a:r>
            <a:endParaRPr lang="en-US" sz="1150" dirty="0"/>
          </a:p>
        </p:txBody>
      </p:sp>
      <p:sp>
        <p:nvSpPr>
          <p:cNvPr id="41" name="Text 36"/>
          <p:cNvSpPr txBox="1"/>
          <p:nvPr/>
        </p:nvSpPr>
        <p:spPr>
          <a:xfrm>
            <a:off x="7360920" y="4206240"/>
            <a:ext cx="4282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guide</a:t>
            </a:r>
            <a:endParaRPr lang="en-US" sz="1150" dirty="0"/>
          </a:p>
        </p:txBody>
      </p:sp>
      <p:sp>
        <p:nvSpPr>
          <p:cNvPr id="42" name="Text 37"/>
          <p:cNvSpPr txBox="1"/>
          <p:nvPr/>
        </p:nvSpPr>
        <p:spPr>
          <a:xfrm>
            <a:off x="6675120" y="4937760"/>
            <a:ext cx="4967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slide: Home › New Slide and pick a Volt layout. Build colours from the theme and tokens, never typed hex values.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27278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98A1B6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48640" y="201168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400" spc="-100" kern="0" dirty="0">
                <a:solidFill>
                  <a:srgbClr val="E9ECF4"/>
                </a:solidFill>
                <a:latin typeface="Archivo Expanded ExtraBold" pitchFamily="34" charset="0"/>
                <a:ea typeface="Archivo Expanded ExtraBold" pitchFamily="34" charset="-122"/>
                <a:cs typeface="Archivo Expanded ExtraBold" pitchFamily="34" charset="-120"/>
              </a:rPr>
              <a:t>Calm, precise, live.</a:t>
            </a:r>
            <a:endParaRPr lang="en-US" sz="54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548640" y="36118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8A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in doubt, start from the template and the tokens, and keep Volt to a tenth of the page.</a:t>
            </a:r>
            <a:endParaRPr lang="en-US" sz="18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548640" y="55778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8A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Volt Streaming brand guide · Version 1 · October 2026</a:t>
            </a:r>
            <a:endParaRPr lang="en-US" sz="1100" dirty="0"/>
          </a:p>
        </p:txBody>
      </p:sp>
      <p:sp>
        <p:nvSpPr>
          <p:cNvPr id="5" name="Button Open the brand folder"/>
          <p:cNvSpPr/>
          <p:nvPr/>
        </p:nvSpPr>
        <p:spPr>
          <a:xfrm>
            <a:off x="548640" y="4617720"/>
            <a:ext cx="2377440" cy="502920"/>
          </a:xfrm>
          <a:prstGeom prst="roundRect">
            <a:avLst>
              <a:gd name="adj" fmla="val 12727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4617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Open the brand folder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olt Streaming">
  <a:themeElements>
    <a:clrScheme name="Volt Streaming">
      <a:dk1>
        <a:srgbClr val="0F1218"/>
      </a:dk1>
      <a:lt1>
        <a:srgbClr val="FFFFFF"/>
      </a:lt1>
      <a:dk2>
        <a:srgbClr val="171B24"/>
      </a:dk2>
      <a:lt2>
        <a:srgbClr val="F6F8FC"/>
      </a:lt2>
      <a:accent1>
        <a:srgbClr val="5569F2"/>
      </a:accent1>
      <a:accent2>
        <a:srgbClr val="4F46E5"/>
      </a:accent2>
      <a:accent3>
        <a:srgbClr val="5B8CFF"/>
      </a:accent3>
      <a:accent4>
        <a:srgbClr val="9A9DFF"/>
      </a:accent4>
      <a:accent5>
        <a:srgbClr val="4ADE80"/>
      </a:accent5>
      <a:accent6>
        <a:srgbClr val="FBBF24"/>
      </a:accent6>
      <a:hlink>
        <a:srgbClr val="8B9CFF"/>
      </a:hlink>
      <a:folHlink>
        <a:srgbClr val="9A9DFF"/>
      </a:folHlink>
    </a:clrScheme>
    <a:fontScheme name="Volt Streaming">
      <a:majorFont>
        <a:latin typeface="Archiv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Volt Streaming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Volt Streaming brand guide</dc:title>
  <dc:subject>PptxGenJS Presentation</dc:subject>
  <dc:creator>Volt Streaming</dc:creator>
  <cp:lastModifiedBy>Volt Streaming</cp:lastModifiedBy>
  <cp:revision>1</cp:revision>
  <dcterms:created xsi:type="dcterms:W3CDTF">2026-10-18T16:23:25Z</dcterms:created>
  <dcterms:modified xsi:type="dcterms:W3CDTF">2026-10-18T16:23:25Z</dcterms:modified>
</cp:coreProperties>
</file>