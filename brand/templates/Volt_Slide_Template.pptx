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10f5e46-4719-a0cc-1ee0-90821884240f}">
          <p14:sldIdLst>
            <p14:sldId id="256"/>
            <p14:sldId id="257"/>
          </p14:sldIdLst>
        </p14:section>
        <p14:section name="Live to VOD" id="{8c795c3d-58a8-1eff-940f-068d34f73c99}">
          <p14:sldIdLst>
            <p14:sldId id="258"/>
            <p14:sldId id="259"/>
            <p14:sldId id="260"/>
            <p14:sldId id="261"/>
            <p14:sldId id="262"/>
          </p14:sldIdLst>
        </p14:section>
        <p14:section name="Details" id="{f09e08f5-d4a9-9847-5817-20e20e0e77a1}">
          <p14:sldIdLst>
            <p14:sldId id="263"/>
            <p14:sldId id="264"/>
            <p14:sldId id="265"/>
          </p14:sldIdLst>
        </p14:section>
        <p14:section name="Close" id="{d7e0b735-bc5c-aaab-cbb4-265e91919dda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Layout: Volt title. Replace the screen card with the product screen that tells your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 title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919508" cy="274320"/>
          </a:xfrm>
          <a:prstGeom prst="rect">
            <a:avLst/>
          </a:prstGeom>
        </p:spPr>
      </p:pic>
      <p:sp>
        <p:nvSpPr>
          <p:cNvPr id="3" name="Volt blend block"/>
          <p:cNvSpPr/>
          <p:nvPr/>
        </p:nvSpPr>
        <p:spPr>
          <a:xfrm>
            <a:off x="6903720" y="502920"/>
            <a:ext cx="4739335" cy="5349240"/>
          </a:xfrm>
          <a:prstGeom prst="roundRect">
            <a:avLst>
              <a:gd name="adj" fmla="val 2200"/>
            </a:avLst>
          </a:prstGeom>
          <a:gradFill rotWithShape="1">
            <a:gsLst>
              <a:gs pos="0">
                <a:srgbClr val="5B8CFF"/>
              </a:gs>
              <a:gs pos="100000">
                <a:srgbClr val="4F46E5"/>
              </a:gs>
            </a:gsLst>
            <a:lin ang="3000000" scaled="0"/>
          </a:gradFill>
          <a:ln/>
        </p:spPr>
      </p:sp>
      <p:sp>
        <p:nvSpPr>
          <p:cNvPr id="4" name="Slit"/>
          <p:cNvSpPr/>
          <p:nvPr/>
        </p:nvSpPr>
        <p:spPr>
          <a:xfrm rot="780000">
            <a:off x="10419588" y="197953"/>
            <a:ext cx="146304" cy="5959173"/>
          </a:xfrm>
          <a:prstGeom prst="rect">
            <a:avLst/>
          </a:prstGeom>
          <a:solidFill>
            <a:srgbClr val="0F1218"/>
          </a:solidFill>
          <a:ln/>
        </p:spPr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1783080"/>
            <a:ext cx="5669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15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100" spc="15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EYEBROW</a:t>
            </a:r>
            <a:endParaRPr lang="en-US" sz="11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48640" y="2148840"/>
            <a:ext cx="54864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5000" spc="-10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r>
              <a:rPr lang="en-US" sz="5000" spc="-10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One display headline</a:t>
            </a:r>
            <a:endParaRPr lang="en-US" sz="5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48640" y="4572000"/>
            <a:ext cx="5212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deck line that says what happens.</a:t>
            </a:r>
            <a:endParaRPr lang="en-US" sz="18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548640" y="5989320"/>
            <a:ext cx="5669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Presenter name · Role · Date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 section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lt blend block"/>
          <p:cNvSpPr/>
          <p:nvPr/>
        </p:nvSpPr>
        <p:spPr>
          <a:xfrm>
            <a:off x="9052560" y="502920"/>
            <a:ext cx="2590495" cy="5257800"/>
          </a:xfrm>
          <a:prstGeom prst="roundRect">
            <a:avLst>
              <a:gd name="adj" fmla="val 2200"/>
            </a:avLst>
          </a:prstGeom>
          <a:gradFill rotWithShape="1">
            <a:gsLst>
              <a:gs pos="0">
                <a:srgbClr val="5B8CFF"/>
              </a:gs>
              <a:gs pos="100000">
                <a:srgbClr val="4F46E5"/>
              </a:gs>
            </a:gsLst>
            <a:lin ang="3000000" scaled="0"/>
          </a:gradFill>
          <a:ln/>
        </p:spPr>
      </p:sp>
      <p:sp>
        <p:nvSpPr>
          <p:cNvPr id="3" name="Slit"/>
          <p:cNvSpPr/>
          <p:nvPr/>
        </p:nvSpPr>
        <p:spPr>
          <a:xfrm rot="780000">
            <a:off x="10521579" y="199156"/>
            <a:ext cx="146304" cy="5865328"/>
          </a:xfrm>
          <a:prstGeom prst="rect">
            <a:avLst/>
          </a:prstGeom>
          <a:solidFill>
            <a:srgbClr val="0F1218"/>
          </a:solidFill>
          <a:ln/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2148840"/>
            <a:ext cx="7772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15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100" spc="15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SECTION 00</a:t>
            </a:r>
            <a:endParaRPr lang="en-US" sz="11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2514600"/>
            <a:ext cx="7863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5400" spc="-10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r>
              <a:rPr lang="en-US" sz="5400" spc="-10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Section title</a:t>
            </a:r>
            <a:endParaRPr lang="en-US" sz="5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4297680"/>
            <a:ext cx="6858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line on what this section covers.</a:t>
            </a:r>
            <a:endParaRPr lang="en-US" sz="1800" dirty="0"/>
          </a:p>
        </p:txBody>
      </p:sp>
      <p:pic>
        <p:nvPicPr>
          <p:cNvPr id="7" name="Image 0" descr="V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613006" cy="182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 title and content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EYEBROW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Slide title in sentence case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text in Inter, 16 to 20pt</a:t>
            </a:r>
            <a:endParaRPr lang="en-US" sz="1800" dirty="0"/>
          </a:p>
        </p:txBody>
      </p:sp>
      <p:pic>
        <p:nvPicPr>
          <p:cNvPr id="5" name="Image 0" descr="V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613006" cy="182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 title only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EYEBROW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Slide title in sentence case</a:t>
            </a:r>
            <a:endParaRPr lang="en-US" sz="3400" dirty="0"/>
          </a:p>
        </p:txBody>
      </p:sp>
      <p:pic>
        <p:nvPicPr>
          <p:cNvPr id="4" name="Image 0" descr="V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613006" cy="182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 title and content paper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140" kern="0" dirty="0">
                <a:solidFill>
                  <a:srgbClr val="4F46E5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140" kern="0" dirty="0">
                <a:solidFill>
                  <a:srgbClr val="4F46E5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EYEBROW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spc="-60" kern="0" dirty="0">
                <a:solidFill>
                  <a:srgbClr val="0F1218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0F1218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Slide title in sentence case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828800"/>
            <a:ext cx="493776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700" dirty="0">
                <a:solidFill>
                  <a:srgbClr val="4B546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4B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text in Inter, 16 to 20pt</a:t>
            </a:r>
            <a:endParaRPr lang="en-US" sz="1700" dirty="0"/>
          </a:p>
        </p:txBody>
      </p:sp>
      <p:pic>
        <p:nvPicPr>
          <p:cNvPr id="5" name="Image 0" descr="V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613006" cy="182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B546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 title only paper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140" kern="0" dirty="0">
                <a:solidFill>
                  <a:srgbClr val="4F46E5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140" kern="0" dirty="0">
                <a:solidFill>
                  <a:srgbClr val="4F46E5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EYEBROW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spc="-60" kern="0" dirty="0">
                <a:solidFill>
                  <a:srgbClr val="0F1218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0F1218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Slide title in sentence case</a:t>
            </a:r>
            <a:endParaRPr lang="en-US" sz="3400" dirty="0"/>
          </a:p>
        </p:txBody>
      </p:sp>
      <p:pic>
        <p:nvPicPr>
          <p:cNvPr id="4" name="Image 0" descr="V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613006" cy="182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B546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 text and visual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EYEBROW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Slide title in sentence case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828800"/>
            <a:ext cx="448056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6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column. The visual (table, screen or diagram) sits on the right from 6.0 in.</a:t>
            </a:r>
            <a:endParaRPr lang="en-US" sz="1600" dirty="0"/>
          </a:p>
        </p:txBody>
      </p:sp>
      <p:pic>
        <p:nvPicPr>
          <p:cNvPr id="5" name="Image 0" descr="V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613006" cy="182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 closing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lt Stream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2598821" cy="329184"/>
          </a:xfrm>
          <a:prstGeom prst="rect">
            <a:avLst/>
          </a:prstGeom>
        </p:spPr>
      </p:pic>
      <p:sp>
        <p:nvSpPr>
          <p:cNvPr id="3" name="Volt blend block"/>
          <p:cNvSpPr/>
          <p:nvPr/>
        </p:nvSpPr>
        <p:spPr>
          <a:xfrm>
            <a:off x="7863840" y="502920"/>
            <a:ext cx="3779215" cy="5349240"/>
          </a:xfrm>
          <a:prstGeom prst="roundRect">
            <a:avLst>
              <a:gd name="adj" fmla="val 2200"/>
            </a:avLst>
          </a:prstGeom>
          <a:gradFill rotWithShape="1">
            <a:gsLst>
              <a:gs pos="0">
                <a:srgbClr val="5B8CFF"/>
              </a:gs>
              <a:gs pos="100000">
                <a:srgbClr val="4F46E5"/>
              </a:gs>
            </a:gsLst>
            <a:lin ang="3000000" scaled="0"/>
          </a:gradFill>
          <a:ln/>
        </p:spPr>
      </p:sp>
      <p:sp>
        <p:nvSpPr>
          <p:cNvPr id="4" name="Slit"/>
          <p:cNvSpPr/>
          <p:nvPr/>
        </p:nvSpPr>
        <p:spPr>
          <a:xfrm rot="780000">
            <a:off x="10190988" y="197953"/>
            <a:ext cx="146304" cy="5959173"/>
          </a:xfrm>
          <a:prstGeom prst="rect">
            <a:avLst/>
          </a:prstGeom>
          <a:solidFill>
            <a:srgbClr val="0F1218"/>
          </a:solidFill>
          <a:ln/>
        </p:spPr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2011680"/>
            <a:ext cx="67665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5400" spc="-10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r>
              <a:rPr lang="en-US" sz="5400" spc="-10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Closing line</a:t>
            </a:r>
            <a:endParaRPr lang="en-US" sz="5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3611880"/>
            <a:ext cx="6217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line on what happens next.</a:t>
            </a:r>
            <a:endParaRPr lang="en-US" sz="18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48640" y="5577840"/>
            <a:ext cx="67665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· email · phone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5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1783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LIVE </a:t>
            </a:r>
            <a:pPr indent="0" marL="0">
              <a:buNone/>
            </a:pPr>
            <a:r>
              <a:rPr lang="en-US" sz="1100" b="1" spc="150" kern="0" dirty="0">
                <a:solidFill>
                  <a:srgbClr val="8B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100" spc="15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 VOD</a:t>
            </a:r>
            <a:endParaRPr lang="en-US" sz="11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0" spc="-10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Every live hour becomes a library.</a:t>
            </a:r>
            <a:endParaRPr lang="en-US" sz="5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48640" y="45720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every channel as it airs and publish clips while the match is still on.</a:t>
            </a:r>
            <a:endParaRPr lang="en-US" sz="18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548640" y="5989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Presenter name · Role · 19 October 2026</a:t>
            </a:r>
            <a:endParaRPr lang="en-US" sz="1100" dirty="0"/>
          </a:p>
        </p:txBody>
      </p:sp>
      <p:sp>
        <p:nvSpPr>
          <p:cNvPr id="6" name="Screen shadow"/>
          <p:cNvSpPr/>
          <p:nvPr/>
        </p:nvSpPr>
        <p:spPr>
          <a:xfrm>
            <a:off x="6263640" y="2514600"/>
            <a:ext cx="3931920" cy="2938806"/>
          </a:xfrm>
          <a:prstGeom prst="roundRect">
            <a:avLst>
              <a:gd name="adj" fmla="val 2489"/>
            </a:avLst>
          </a:prstGeom>
          <a:solidFill>
            <a:srgbClr val="171B24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hannel 2 output player, on air with live subtit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2514600"/>
            <a:ext cx="3931920" cy="2938806"/>
          </a:xfrm>
          <a:prstGeom prst="rect">
            <a:avLst/>
          </a:prstGeom>
        </p:spPr>
      </p:pic>
      <p:sp>
        <p:nvSpPr>
          <p:cNvPr id="8" name="Screen frame"/>
          <p:cNvSpPr/>
          <p:nvPr/>
        </p:nvSpPr>
        <p:spPr>
          <a:xfrm>
            <a:off x="6263640" y="2514600"/>
            <a:ext cx="3931920" cy="2938806"/>
          </a:xfrm>
          <a:prstGeom prst="roundRect">
            <a:avLst>
              <a:gd name="adj" fmla="val 1822"/>
            </a:avLst>
          </a:prstGeom>
          <a:ln w="9525">
            <a:solidFill>
              <a:srgbClr val="2E34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What we will cover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5681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Node live"/>
          <p:cNvSpPr/>
          <p:nvPr/>
        </p:nvSpPr>
        <p:spPr>
          <a:xfrm>
            <a:off x="1188720" y="1828800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6" name="Image 0" descr="liv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452" y="19705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1847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Go live, stay live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21396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Channels, events, radio and FAST on one platform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88720" y="2542032"/>
            <a:ext cx="6400800" cy="0"/>
          </a:xfrm>
          <a:prstGeom prst="line">
            <a:avLst/>
          </a:prstGeom>
          <a:noFill/>
          <a:ln w="9525">
            <a:solidFill>
              <a:srgbClr val="2226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7797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Node live-to-vod"/>
          <p:cNvSpPr/>
          <p:nvPr/>
        </p:nvSpPr>
        <p:spPr>
          <a:xfrm>
            <a:off x="1188720" y="2651760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12" name="Image 1" descr="live-to-vo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452" y="279349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011680" y="2670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Live </a:t>
            </a:r>
            <a:pPr indent="0" marL="0">
              <a:buNone/>
            </a:pPr>
            <a:r>
              <a:rPr lang="en-US" sz="1800" dirty="0">
                <a:solidFill>
                  <a:srgbClr val="E9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8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VOD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011680" y="29626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as it airs, clip and publish while still live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188720" y="3364992"/>
            <a:ext cx="6400800" cy="0"/>
          </a:xfrm>
          <a:prstGeom prst="line">
            <a:avLst/>
          </a:prstGeom>
          <a:noFill/>
          <a:ln w="9525">
            <a:solidFill>
              <a:srgbClr val="22262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8640" y="36027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Node vod-to-live"/>
          <p:cNvSpPr/>
          <p:nvPr/>
        </p:nvSpPr>
        <p:spPr>
          <a:xfrm>
            <a:off x="1188720" y="3474720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18" name="Image 2" descr="vod-to-liv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452" y="361645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011680" y="34930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VOD </a:t>
            </a:r>
            <a:pPr indent="0" marL="0">
              <a:buNone/>
            </a:pPr>
            <a:r>
              <a:rPr lang="en-US" sz="1800" dirty="0">
                <a:solidFill>
                  <a:srgbClr val="E9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8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Live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2011680" y="3785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a media library into a scheduled channel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1188720" y="4187952"/>
            <a:ext cx="6400800" cy="0"/>
          </a:xfrm>
          <a:prstGeom prst="line">
            <a:avLst/>
          </a:prstGeom>
          <a:noFill/>
          <a:ln w="9525">
            <a:solidFill>
              <a:srgbClr val="22262E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48640" y="442569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Node monitoring"/>
          <p:cNvSpPr/>
          <p:nvPr/>
        </p:nvSpPr>
        <p:spPr>
          <a:xfrm>
            <a:off x="1188720" y="4297680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24" name="Image 3" descr="monitorin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452" y="4439412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011680" y="43159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Monitoring and failover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2011680" y="46085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gates, backup inputs and the slate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1188720" y="5010912"/>
            <a:ext cx="6400800" cy="0"/>
          </a:xfrm>
          <a:prstGeom prst="line">
            <a:avLst/>
          </a:prstGeom>
          <a:noFill/>
          <a:ln w="9525">
            <a:solidFill>
              <a:srgbClr val="22262E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48640" y="52486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Node api"/>
          <p:cNvSpPr/>
          <p:nvPr/>
        </p:nvSpPr>
        <p:spPr>
          <a:xfrm>
            <a:off x="1188720" y="5120640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30" name="Image 4" descr="api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452" y="5262372"/>
            <a:ext cx="283464" cy="28346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2011680" y="5138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Integrate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2011680" y="54315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 SDK, embeds and an API with keys per app</a:t>
            </a:r>
            <a:endParaRPr lang="en-US" sz="1400" dirty="0"/>
          </a:p>
        </p:txBody>
      </p:sp>
      <p:sp>
        <p:nvSpPr>
          <p:cNvPr id="33" name="Screen shadow"/>
          <p:cNvSpPr/>
          <p:nvPr/>
        </p:nvSpPr>
        <p:spPr>
          <a:xfrm>
            <a:off x="8092440" y="1828800"/>
            <a:ext cx="3547872" cy="2128723"/>
          </a:xfrm>
          <a:prstGeom prst="roundRect">
            <a:avLst>
              <a:gd name="adj" fmla="val 3436"/>
            </a:avLst>
          </a:prstGeom>
          <a:solidFill>
            <a:srgbClr val="171B24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34" name="Image 5" descr="Multivie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1828800"/>
            <a:ext cx="3547872" cy="2128723"/>
          </a:xfrm>
          <a:prstGeom prst="rect">
            <a:avLst/>
          </a:prstGeom>
        </p:spPr>
      </p:pic>
      <p:sp>
        <p:nvSpPr>
          <p:cNvPr id="35" name="Screen frame"/>
          <p:cNvSpPr/>
          <p:nvPr/>
        </p:nvSpPr>
        <p:spPr>
          <a:xfrm>
            <a:off x="8092440" y="1828800"/>
            <a:ext cx="3547872" cy="2128723"/>
          </a:xfrm>
          <a:prstGeom prst="roundRect">
            <a:avLst>
              <a:gd name="adj" fmla="val 2059"/>
            </a:avLst>
          </a:prstGeom>
          <a:ln w="9525">
            <a:solidFill>
              <a:srgbClr val="2E344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2148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25146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400" spc="-10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Live </a:t>
            </a:r>
            <a:pPr algn="l" indent="0" marL="0">
              <a:lnSpc>
                <a:spcPct val="92000"/>
              </a:lnSpc>
              <a:buNone/>
            </a:pPr>
            <a:r>
              <a:rPr lang="en-US" sz="5400" b="1" spc="-100" kern="0" dirty="0">
                <a:solidFill>
                  <a:srgbClr val="E9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ct val="92000"/>
              </a:lnSpc>
              <a:buNone/>
            </a:pPr>
            <a:r>
              <a:rPr lang="en-US" sz="5400" spc="-10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 VOD</a:t>
            </a:r>
            <a:endParaRPr lang="en-US" sz="5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48640" y="42976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Recording starts when the channel goes on air. Clip and publish while it is still live.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PLATFORM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Built for the operator's night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3515258" cy="1874520"/>
          </a:xfrm>
          <a:prstGeom prst="roundRect">
            <a:avLst>
              <a:gd name="adj" fmla="val 5366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5" name="Node failover"/>
          <p:cNvSpPr/>
          <p:nvPr/>
        </p:nvSpPr>
        <p:spPr>
          <a:xfrm>
            <a:off x="822960" y="2103120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C2130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6" name="Image 0" descr="failov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2448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34640"/>
            <a:ext cx="2966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Primary and backup inputs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switch to the backup, slate on total loss.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338218" y="1828800"/>
            <a:ext cx="3515258" cy="1874520"/>
          </a:xfrm>
          <a:prstGeom prst="roundRect">
            <a:avLst>
              <a:gd name="adj" fmla="val 5366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10" name="Node captions"/>
          <p:cNvSpPr/>
          <p:nvPr/>
        </p:nvSpPr>
        <p:spPr>
          <a:xfrm>
            <a:off x="4612538" y="2103120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C2130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11" name="Image 1" descr="caption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270" y="224485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2834640"/>
            <a:ext cx="2966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Live subtitles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1546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Captions and translation on the live stream.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8127797" y="1828800"/>
            <a:ext cx="3515258" cy="1874520"/>
          </a:xfrm>
          <a:prstGeom prst="roundRect">
            <a:avLst>
              <a:gd name="adj" fmla="val 5366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15" name="Node monitoring"/>
          <p:cNvSpPr/>
          <p:nvPr/>
        </p:nvSpPr>
        <p:spPr>
          <a:xfrm>
            <a:off x="8402117" y="2103120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C2130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16" name="Image 2" descr="monitorin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849" y="224485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2834640"/>
            <a:ext cx="2966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Five-gate monitoring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1546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</a:t>
            </a:r>
            <a:pPr indent="0" marL="0">
              <a:buNone/>
            </a:pPr>
            <a:r>
              <a:rPr lang="en-US" sz="1300" dirty="0">
                <a:solidFill>
                  <a:srgbClr val="98A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3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Input </a:t>
            </a:r>
            <a:pPr indent="0" marL="0">
              <a:buNone/>
            </a:pPr>
            <a:r>
              <a:rPr lang="en-US" sz="1300" dirty="0">
                <a:solidFill>
                  <a:srgbClr val="98A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3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Encoder </a:t>
            </a:r>
            <a:pPr indent="0" marL="0">
              <a:buNone/>
            </a:pPr>
            <a:r>
              <a:rPr lang="en-US" sz="1300" dirty="0">
                <a:solidFill>
                  <a:srgbClr val="98A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3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Output </a:t>
            </a:r>
            <a:pPr indent="0" marL="0">
              <a:buNone/>
            </a:pPr>
            <a:r>
              <a:rPr lang="en-US" sz="1300" dirty="0">
                <a:solidFill>
                  <a:srgbClr val="98A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3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air.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548640" y="3977640"/>
            <a:ext cx="3515258" cy="1874520"/>
          </a:xfrm>
          <a:prstGeom prst="roundRect">
            <a:avLst>
              <a:gd name="adj" fmla="val 5366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20" name="Node recording"/>
          <p:cNvSpPr/>
          <p:nvPr/>
        </p:nvSpPr>
        <p:spPr>
          <a:xfrm>
            <a:off x="822960" y="4251960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C2130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21" name="Image 3" descr="recordin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" y="4983480"/>
            <a:ext cx="2966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Record as it airs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3035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channel recorded, ready to clip while live.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4338218" y="3977640"/>
            <a:ext cx="3515258" cy="1874520"/>
          </a:xfrm>
          <a:prstGeom prst="roundRect">
            <a:avLst>
              <a:gd name="adj" fmla="val 5366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25" name="Node epg"/>
          <p:cNvSpPr/>
          <p:nvPr/>
        </p:nvSpPr>
        <p:spPr>
          <a:xfrm>
            <a:off x="4612538" y="4251960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C2130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26" name="Image 4" descr="epg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270" y="4393692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12538" y="4983480"/>
            <a:ext cx="2966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EPG and scheduling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612538" y="53035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XMLTV import and scheduled playout for FAST.</a:t>
            </a:r>
            <a:endParaRPr lang="en-US" sz="1300" dirty="0"/>
          </a:p>
        </p:txBody>
      </p:sp>
      <p:sp>
        <p:nvSpPr>
          <p:cNvPr id="29" name="Card"/>
          <p:cNvSpPr/>
          <p:nvPr/>
        </p:nvSpPr>
        <p:spPr>
          <a:xfrm>
            <a:off x="8127797" y="3977640"/>
            <a:ext cx="3515258" cy="1874520"/>
          </a:xfrm>
          <a:prstGeom prst="roundRect">
            <a:avLst>
              <a:gd name="adj" fmla="val 5366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30" name="Node analytics"/>
          <p:cNvSpPr/>
          <p:nvPr/>
        </p:nvSpPr>
        <p:spPr>
          <a:xfrm>
            <a:off x="8402117" y="4251960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C2130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31" name="Image 5" descr="analytic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3849" y="4393692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02117" y="4983480"/>
            <a:ext cx="2966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402117" y="53035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 and QoS for every channel and event.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RECORDING WORKBENCH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Clip while the channel is still live</a:t>
            </a:r>
            <a:endParaRPr lang="en-US" sz="3400" dirty="0"/>
          </a:p>
        </p:txBody>
      </p:sp>
      <p:sp>
        <p:nvSpPr>
          <p:cNvPr id="4" name="Screen shadow"/>
          <p:cNvSpPr/>
          <p:nvPr/>
        </p:nvSpPr>
        <p:spPr>
          <a:xfrm>
            <a:off x="548640" y="1783080"/>
            <a:ext cx="6812280" cy="4206583"/>
          </a:xfrm>
          <a:prstGeom prst="roundRect">
            <a:avLst>
              <a:gd name="adj" fmla="val 1739"/>
            </a:avLst>
          </a:prstGeom>
          <a:solidFill>
            <a:srgbClr val="171B24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Recording workbench for Channel 2 L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812280" cy="4206583"/>
          </a:xfrm>
          <a:prstGeom prst="rect">
            <a:avLst/>
          </a:prstGeom>
        </p:spPr>
      </p:pic>
      <p:sp>
        <p:nvSpPr>
          <p:cNvPr id="6" name="Screen frame"/>
          <p:cNvSpPr/>
          <p:nvPr/>
        </p:nvSpPr>
        <p:spPr>
          <a:xfrm>
            <a:off x="548640" y="1783080"/>
            <a:ext cx="6812280" cy="4206583"/>
          </a:xfrm>
          <a:prstGeom prst="roundRect">
            <a:avLst>
              <a:gd name="adj" fmla="val 1635"/>
            </a:avLst>
          </a:prstGeom>
          <a:ln w="9525">
            <a:solidFill>
              <a:srgbClr val="2E3442"/>
            </a:solidFill>
            <a:prstDash val="solid"/>
          </a:ln>
        </p:spPr>
      </p:sp>
      <p:sp>
        <p:nvSpPr>
          <p:cNvPr id="7" name="Callout 1"/>
          <p:cNvSpPr/>
          <p:nvPr/>
        </p:nvSpPr>
        <p:spPr>
          <a:xfrm>
            <a:off x="3872341" y="2160470"/>
            <a:ext cx="292608" cy="292608"/>
          </a:xfrm>
          <a:prstGeom prst="ellipse">
            <a:avLst/>
          </a:prstGeom>
          <a:solidFill>
            <a:srgbClr val="5569F2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872341" y="216047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Callout 2"/>
          <p:cNvSpPr/>
          <p:nvPr/>
        </p:nvSpPr>
        <p:spPr>
          <a:xfrm>
            <a:off x="1168718" y="2616041"/>
            <a:ext cx="292608" cy="292608"/>
          </a:xfrm>
          <a:prstGeom prst="ellipse">
            <a:avLst/>
          </a:prstGeom>
          <a:solidFill>
            <a:srgbClr val="5569F2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168718" y="261604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Callout 3"/>
          <p:cNvSpPr/>
          <p:nvPr/>
        </p:nvSpPr>
        <p:spPr>
          <a:xfrm>
            <a:off x="5447681" y="2794864"/>
            <a:ext cx="292608" cy="292608"/>
          </a:xfrm>
          <a:prstGeom prst="ellipse">
            <a:avLst/>
          </a:prstGeom>
          <a:solidFill>
            <a:srgbClr val="5569F2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447681" y="2794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Callout 4"/>
          <p:cNvSpPr/>
          <p:nvPr/>
        </p:nvSpPr>
        <p:spPr>
          <a:xfrm>
            <a:off x="2637615" y="4795971"/>
            <a:ext cx="292608" cy="292608"/>
          </a:xfrm>
          <a:prstGeom prst="ellipse">
            <a:avLst/>
          </a:prstGeom>
          <a:solidFill>
            <a:srgbClr val="5569F2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637615" y="47959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Callout 5"/>
          <p:cNvSpPr/>
          <p:nvPr/>
        </p:nvSpPr>
        <p:spPr>
          <a:xfrm>
            <a:off x="2956941" y="5383530"/>
            <a:ext cx="292608" cy="292608"/>
          </a:xfrm>
          <a:prstGeom prst="ellipse">
            <a:avLst/>
          </a:prstGeom>
          <a:solidFill>
            <a:srgbClr val="5569F2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956941" y="538353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Callout 1"/>
          <p:cNvSpPr/>
          <p:nvPr/>
        </p:nvSpPr>
        <p:spPr>
          <a:xfrm>
            <a:off x="8001000" y="1819656"/>
            <a:ext cx="292608" cy="292608"/>
          </a:xfrm>
          <a:prstGeom prst="ellipse">
            <a:avLst/>
          </a:prstGeom>
          <a:solidFill>
            <a:srgbClr val="5569F2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001000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45820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Gap and slate report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458200" y="210312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gap and every slate on air, with time and length.</a:t>
            </a:r>
            <a:endParaRPr lang="en-US" sz="1250" dirty="0"/>
          </a:p>
        </p:txBody>
      </p:sp>
      <p:sp>
        <p:nvSpPr>
          <p:cNvPr id="21" name="Callout 2"/>
          <p:cNvSpPr/>
          <p:nvPr/>
        </p:nvSpPr>
        <p:spPr>
          <a:xfrm>
            <a:off x="8001000" y="2670048"/>
            <a:ext cx="292608" cy="292608"/>
          </a:xfrm>
          <a:prstGeom prst="ellipse">
            <a:avLst/>
          </a:prstGeom>
          <a:solidFill>
            <a:srgbClr val="5569F2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001000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458200" y="2660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Player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458200" y="295351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Scrub with the keyboard, frame by frame.</a:t>
            </a:r>
            <a:endParaRPr lang="en-US" sz="1250" dirty="0"/>
          </a:p>
        </p:txBody>
      </p:sp>
      <p:sp>
        <p:nvSpPr>
          <p:cNvPr id="25" name="Callout 3"/>
          <p:cNvSpPr/>
          <p:nvPr/>
        </p:nvSpPr>
        <p:spPr>
          <a:xfrm>
            <a:off x="8001000" y="3520440"/>
            <a:ext cx="292608" cy="292608"/>
          </a:xfrm>
          <a:prstGeom prst="ellipse">
            <a:avLst/>
          </a:prstGeom>
          <a:solidFill>
            <a:srgbClr val="5569F2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800100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458200" y="3511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Transcript search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458200" y="3803904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a line in the captions and jump to it.</a:t>
            </a:r>
            <a:endParaRPr lang="en-US" sz="1250" dirty="0"/>
          </a:p>
        </p:txBody>
      </p:sp>
      <p:sp>
        <p:nvSpPr>
          <p:cNvPr id="29" name="Callout 4"/>
          <p:cNvSpPr/>
          <p:nvPr/>
        </p:nvSpPr>
        <p:spPr>
          <a:xfrm>
            <a:off x="8001000" y="4370832"/>
            <a:ext cx="292608" cy="292608"/>
          </a:xfrm>
          <a:prstGeom prst="ellipse">
            <a:avLst/>
          </a:prstGeom>
          <a:solidFill>
            <a:srgbClr val="5569F2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001000" y="4370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458200" y="4361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 and out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8458200" y="4654296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the range in timecode, then cut the clip.</a:t>
            </a:r>
            <a:endParaRPr lang="en-US" sz="1250" dirty="0"/>
          </a:p>
        </p:txBody>
      </p:sp>
      <p:sp>
        <p:nvSpPr>
          <p:cNvPr id="33" name="Callout 5"/>
          <p:cNvSpPr/>
          <p:nvPr/>
        </p:nvSpPr>
        <p:spPr>
          <a:xfrm>
            <a:off x="8001000" y="5221224"/>
            <a:ext cx="292608" cy="292608"/>
          </a:xfrm>
          <a:prstGeom prst="ellipse">
            <a:avLst/>
          </a:prstGeom>
          <a:solidFill>
            <a:srgbClr val="5569F2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8001000" y="5221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458200" y="5212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Timeline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458200" y="5504688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Waveform with outages marked, zoom 1m to 1d.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SIGNAL FLOW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Live </a:t>
            </a:r>
            <a:pPr algn="l" indent="0" marL="0">
              <a:lnSpc>
                <a:spcPct val="95000"/>
              </a:lnSpc>
              <a:buNone/>
            </a:pPr>
            <a:r>
              <a:rPr lang="en-US" sz="3400" b="1" spc="-60" kern="0" dirty="0">
                <a:solidFill>
                  <a:srgbClr val="E9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 VOD</a:t>
            </a:r>
            <a:endParaRPr lang="en-US" sz="3400" dirty="0"/>
          </a:p>
        </p:txBody>
      </p:sp>
      <p:sp>
        <p:nvSpPr>
          <p:cNvPr id="4" name="Group Volt platform"/>
          <p:cNvSpPr/>
          <p:nvPr/>
        </p:nvSpPr>
        <p:spPr>
          <a:xfrm>
            <a:off x="2286000" y="1965960"/>
            <a:ext cx="5486400" cy="2103120"/>
          </a:xfrm>
          <a:prstGeom prst="roundRect">
            <a:avLst>
              <a:gd name="adj" fmla="val 5652"/>
            </a:avLst>
          </a:prstGeom>
          <a:solidFill>
            <a:srgbClr val="5569F2">
              <a:alpha val="14000"/>
            </a:srgbClr>
          </a:solidFill>
          <a:ln w="12700">
            <a:solidFill>
              <a:srgbClr val="3A4152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2487168" y="21122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98A1B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VOLT PLATFORM</a:t>
            </a:r>
            <a:endParaRPr lang="en-US" sz="1000" dirty="0"/>
          </a:p>
        </p:txBody>
      </p:sp>
      <p:sp>
        <p:nvSpPr>
          <p:cNvPr id="6" name="Connector"/>
          <p:cNvSpPr/>
          <p:nvPr/>
        </p:nvSpPr>
        <p:spPr>
          <a:xfrm>
            <a:off x="1380744" y="2880360"/>
            <a:ext cx="1536192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7" name="Text 5"/>
          <p:cNvSpPr txBox="1"/>
          <p:nvPr/>
        </p:nvSpPr>
        <p:spPr>
          <a:xfrm>
            <a:off x="1840230" y="2770632"/>
            <a:ext cx="342900" cy="219456"/>
          </a:xfrm>
          <a:prstGeom prst="rect">
            <a:avLst/>
          </a:prstGeom>
          <a:solidFill>
            <a:srgbClr val="0F12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SRT</a:t>
            </a:r>
            <a:endParaRPr lang="en-US" sz="950" dirty="0"/>
          </a:p>
        </p:txBody>
      </p:sp>
      <p:sp>
        <p:nvSpPr>
          <p:cNvPr id="8" name="Connector"/>
          <p:cNvSpPr/>
          <p:nvPr/>
        </p:nvSpPr>
        <p:spPr>
          <a:xfrm>
            <a:off x="3483864" y="2880360"/>
            <a:ext cx="713232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9" name="Connector"/>
          <p:cNvSpPr/>
          <p:nvPr/>
        </p:nvSpPr>
        <p:spPr>
          <a:xfrm>
            <a:off x="4764024" y="2880360"/>
            <a:ext cx="713232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10" name="Connector"/>
          <p:cNvSpPr/>
          <p:nvPr/>
        </p:nvSpPr>
        <p:spPr>
          <a:xfrm>
            <a:off x="6044184" y="2880360"/>
            <a:ext cx="713232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11" name="Connector"/>
          <p:cNvSpPr/>
          <p:nvPr/>
        </p:nvSpPr>
        <p:spPr>
          <a:xfrm>
            <a:off x="7324344" y="2880360"/>
            <a:ext cx="1124712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12" name="Text 10"/>
          <p:cNvSpPr txBox="1"/>
          <p:nvPr/>
        </p:nvSpPr>
        <p:spPr>
          <a:xfrm>
            <a:off x="7493508" y="2770632"/>
            <a:ext cx="886968" cy="219456"/>
          </a:xfrm>
          <a:prstGeom prst="rect">
            <a:avLst/>
          </a:prstGeom>
          <a:solidFill>
            <a:srgbClr val="0F12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HLS · DASH</a:t>
            </a:r>
            <a:endParaRPr lang="en-US" sz="950" dirty="0"/>
          </a:p>
        </p:txBody>
      </p:sp>
      <p:sp>
        <p:nvSpPr>
          <p:cNvPr id="13" name="Connector"/>
          <p:cNvSpPr/>
          <p:nvPr/>
        </p:nvSpPr>
        <p:spPr>
          <a:xfrm>
            <a:off x="1380744" y="4343400"/>
            <a:ext cx="1179576" cy="0"/>
          </a:xfrm>
          <a:prstGeom prst="line">
            <a:avLst/>
          </a:prstGeom>
          <a:noFill/>
          <a:ln w="19050">
            <a:solidFill>
              <a:srgbClr val="5569F2"/>
            </a:solidFill>
            <a:prstDash val="dash"/>
          </a:ln>
        </p:spPr>
      </p:sp>
      <p:sp>
        <p:nvSpPr>
          <p:cNvPr id="14" name="Connector"/>
          <p:cNvSpPr/>
          <p:nvPr/>
        </p:nvSpPr>
        <p:spPr>
          <a:xfrm flipV="1">
            <a:off x="2560320" y="3044952"/>
            <a:ext cx="0" cy="1298448"/>
          </a:xfrm>
          <a:prstGeom prst="line">
            <a:avLst/>
          </a:prstGeom>
          <a:noFill/>
          <a:ln w="19050">
            <a:solidFill>
              <a:srgbClr val="5569F2"/>
            </a:solidFill>
            <a:prstDash val="dash"/>
          </a:ln>
        </p:spPr>
      </p:sp>
      <p:sp>
        <p:nvSpPr>
          <p:cNvPr id="15" name="Connector"/>
          <p:cNvSpPr/>
          <p:nvPr/>
        </p:nvSpPr>
        <p:spPr>
          <a:xfrm>
            <a:off x="2560320" y="3044952"/>
            <a:ext cx="356616" cy="0"/>
          </a:xfrm>
          <a:prstGeom prst="line">
            <a:avLst/>
          </a:prstGeom>
          <a:noFill/>
          <a:ln w="19050">
            <a:solidFill>
              <a:srgbClr val="5569F2"/>
            </a:solidFill>
            <a:prstDash val="dash"/>
            <a:tailEnd type="arrow"/>
          </a:ln>
        </p:spPr>
      </p:sp>
      <p:sp>
        <p:nvSpPr>
          <p:cNvPr id="16" name="Connector"/>
          <p:cNvSpPr/>
          <p:nvPr/>
        </p:nvSpPr>
        <p:spPr>
          <a:xfrm>
            <a:off x="9015984" y="2880360"/>
            <a:ext cx="950976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</a:ln>
        </p:spPr>
      </p:sp>
      <p:sp>
        <p:nvSpPr>
          <p:cNvPr id="17" name="Connector"/>
          <p:cNvSpPr/>
          <p:nvPr/>
        </p:nvSpPr>
        <p:spPr>
          <a:xfrm>
            <a:off x="9966960" y="1783080"/>
            <a:ext cx="0" cy="219456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</a:ln>
        </p:spPr>
      </p:sp>
      <p:sp>
        <p:nvSpPr>
          <p:cNvPr id="18" name="Connector"/>
          <p:cNvSpPr/>
          <p:nvPr/>
        </p:nvSpPr>
        <p:spPr>
          <a:xfrm>
            <a:off x="9966960" y="1783080"/>
            <a:ext cx="722376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19" name="Connector"/>
          <p:cNvSpPr/>
          <p:nvPr/>
        </p:nvSpPr>
        <p:spPr>
          <a:xfrm>
            <a:off x="9966960" y="2880360"/>
            <a:ext cx="722376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20" name="Connector"/>
          <p:cNvSpPr/>
          <p:nvPr/>
        </p:nvSpPr>
        <p:spPr>
          <a:xfrm>
            <a:off x="9966960" y="3977640"/>
            <a:ext cx="722376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21" name="Connector"/>
          <p:cNvSpPr/>
          <p:nvPr/>
        </p:nvSpPr>
        <p:spPr>
          <a:xfrm>
            <a:off x="5760720" y="3657600"/>
            <a:ext cx="0" cy="996696"/>
          </a:xfrm>
          <a:prstGeom prst="line">
            <a:avLst/>
          </a:prstGeom>
          <a:noFill/>
          <a:ln w="19050">
            <a:solidFill>
              <a:srgbClr val="6A7387"/>
            </a:solidFill>
            <a:prstDash val="solid"/>
            <a:tailEnd type="arrow"/>
          </a:ln>
        </p:spPr>
      </p:sp>
      <p:sp>
        <p:nvSpPr>
          <p:cNvPr id="22" name="Connector"/>
          <p:cNvSpPr/>
          <p:nvPr/>
        </p:nvSpPr>
        <p:spPr>
          <a:xfrm>
            <a:off x="6044184" y="4937760"/>
            <a:ext cx="1033272" cy="0"/>
          </a:xfrm>
          <a:prstGeom prst="line">
            <a:avLst/>
          </a:prstGeom>
          <a:noFill/>
          <a:ln w="19050">
            <a:solidFill>
              <a:srgbClr val="6A7387"/>
            </a:solidFill>
            <a:prstDash val="solid"/>
            <a:tailEnd type="arrow"/>
          </a:ln>
        </p:spPr>
      </p:sp>
      <p:sp>
        <p:nvSpPr>
          <p:cNvPr id="23" name="Node source"/>
          <p:cNvSpPr/>
          <p:nvPr/>
        </p:nvSpPr>
        <p:spPr>
          <a:xfrm>
            <a:off x="813816" y="25968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24" name="Image 0" descr="sourc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738628"/>
            <a:ext cx="283464" cy="283464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320040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Camera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228600" y="3465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SRT · primary</a:t>
            </a:r>
            <a:endParaRPr lang="en-US" sz="950" dirty="0"/>
          </a:p>
        </p:txBody>
      </p:sp>
      <p:sp>
        <p:nvSpPr>
          <p:cNvPr id="27" name="Node source"/>
          <p:cNvSpPr/>
          <p:nvPr/>
        </p:nvSpPr>
        <p:spPr>
          <a:xfrm>
            <a:off x="813816" y="405993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28" name="Image 1" descr="sourc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" y="4201668"/>
            <a:ext cx="283464" cy="283464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320040" y="47000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Backup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8600" y="49286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SRT · backup</a:t>
            </a:r>
            <a:endParaRPr lang="en-US" sz="950" dirty="0"/>
          </a:p>
        </p:txBody>
      </p:sp>
      <p:sp>
        <p:nvSpPr>
          <p:cNvPr id="31" name="Node ingest"/>
          <p:cNvSpPr/>
          <p:nvPr/>
        </p:nvSpPr>
        <p:spPr>
          <a:xfrm>
            <a:off x="2916936" y="25968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32" name="Image 2" descr="inges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668" y="2738628"/>
            <a:ext cx="283464" cy="283464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2423160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Ingest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2331720" y="3465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primary · backup</a:t>
            </a:r>
            <a:endParaRPr lang="en-US" sz="950" dirty="0"/>
          </a:p>
        </p:txBody>
      </p:sp>
      <p:sp>
        <p:nvSpPr>
          <p:cNvPr id="35" name="Node encoder"/>
          <p:cNvSpPr/>
          <p:nvPr/>
        </p:nvSpPr>
        <p:spPr>
          <a:xfrm>
            <a:off x="4197096" y="25968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36" name="Image 3" descr="encode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828" y="2738628"/>
            <a:ext cx="283464" cy="283464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3703320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Encoder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3611880" y="3465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ABR renditions</a:t>
            </a:r>
            <a:endParaRPr lang="en-US" sz="950" dirty="0"/>
          </a:p>
        </p:txBody>
      </p:sp>
      <p:sp>
        <p:nvSpPr>
          <p:cNvPr id="39" name="Node packager"/>
          <p:cNvSpPr/>
          <p:nvPr/>
        </p:nvSpPr>
        <p:spPr>
          <a:xfrm>
            <a:off x="5477256" y="25968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40" name="Image 4" descr="packager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8988" y="2738628"/>
            <a:ext cx="283464" cy="283464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4983480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Packager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4892040" y="3465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HLS · DASH</a:t>
            </a:r>
            <a:endParaRPr lang="en-US" sz="950" dirty="0"/>
          </a:p>
        </p:txBody>
      </p:sp>
      <p:sp>
        <p:nvSpPr>
          <p:cNvPr id="43" name="Node server"/>
          <p:cNvSpPr/>
          <p:nvPr/>
        </p:nvSpPr>
        <p:spPr>
          <a:xfrm>
            <a:off x="6757416" y="25968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44" name="Image 5" descr="server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9148" y="2738628"/>
            <a:ext cx="283464" cy="283464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6263640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Origin</a:t>
            </a:r>
            <a:endParaRPr lang="en-US" sz="1200" dirty="0"/>
          </a:p>
        </p:txBody>
      </p:sp>
      <p:sp>
        <p:nvSpPr>
          <p:cNvPr id="46" name="Text 38"/>
          <p:cNvSpPr txBox="1"/>
          <p:nvPr/>
        </p:nvSpPr>
        <p:spPr>
          <a:xfrm>
            <a:off x="6172200" y="3465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+ DVR</a:t>
            </a:r>
            <a:endParaRPr lang="en-US" sz="950" dirty="0"/>
          </a:p>
        </p:txBody>
      </p:sp>
      <p:sp>
        <p:nvSpPr>
          <p:cNvPr id="47" name="Node cdn"/>
          <p:cNvSpPr/>
          <p:nvPr/>
        </p:nvSpPr>
        <p:spPr>
          <a:xfrm>
            <a:off x="8449056" y="25968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48" name="Image 6" descr="cdn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0788" y="2738628"/>
            <a:ext cx="283464" cy="283464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7955280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CDN</a:t>
            </a:r>
            <a:endParaRPr lang="en-US" sz="1200" dirty="0"/>
          </a:p>
        </p:txBody>
      </p:sp>
      <p:sp>
        <p:nvSpPr>
          <p:cNvPr id="50" name="Text 41"/>
          <p:cNvSpPr txBox="1"/>
          <p:nvPr/>
        </p:nvSpPr>
        <p:spPr>
          <a:xfrm>
            <a:off x="7863840" y="3465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edge</a:t>
            </a:r>
            <a:endParaRPr lang="en-US" sz="950" dirty="0"/>
          </a:p>
        </p:txBody>
      </p:sp>
      <p:sp>
        <p:nvSpPr>
          <p:cNvPr id="51" name="Node tv"/>
          <p:cNvSpPr/>
          <p:nvPr/>
        </p:nvSpPr>
        <p:spPr>
          <a:xfrm>
            <a:off x="10689336" y="149961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52" name="Image 7" descr="tv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1068" y="1641348"/>
            <a:ext cx="283464" cy="283464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10195560" y="21396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TV</a:t>
            </a:r>
            <a:endParaRPr lang="en-US" sz="1200" dirty="0"/>
          </a:p>
        </p:txBody>
      </p:sp>
      <p:sp>
        <p:nvSpPr>
          <p:cNvPr id="54" name="Node mobile"/>
          <p:cNvSpPr/>
          <p:nvPr/>
        </p:nvSpPr>
        <p:spPr>
          <a:xfrm>
            <a:off x="10689336" y="25968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55" name="Image 8" descr="mobil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1068" y="2738628"/>
            <a:ext cx="283464" cy="283464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10195560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Mobile</a:t>
            </a:r>
            <a:endParaRPr lang="en-US" sz="1200" dirty="0"/>
          </a:p>
        </p:txBody>
      </p:sp>
      <p:sp>
        <p:nvSpPr>
          <p:cNvPr id="57" name="Node desktop"/>
          <p:cNvSpPr/>
          <p:nvPr/>
        </p:nvSpPr>
        <p:spPr>
          <a:xfrm>
            <a:off x="10689336" y="369417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58" name="Image 9" descr="desktop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31068" y="3835908"/>
            <a:ext cx="283464" cy="283464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10195560" y="4334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Web</a:t>
            </a:r>
            <a:endParaRPr lang="en-US" sz="1200" dirty="0"/>
          </a:p>
        </p:txBody>
      </p:sp>
      <p:sp>
        <p:nvSpPr>
          <p:cNvPr id="60" name="Node recording"/>
          <p:cNvSpPr/>
          <p:nvPr/>
        </p:nvSpPr>
        <p:spPr>
          <a:xfrm>
            <a:off x="5477256" y="46542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61" name="Image 10" descr="recording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8988" y="4796028"/>
            <a:ext cx="283464" cy="283464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4983480" y="52943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Recording</a:t>
            </a:r>
            <a:endParaRPr lang="en-US" sz="1200" dirty="0"/>
          </a:p>
        </p:txBody>
      </p:sp>
      <p:sp>
        <p:nvSpPr>
          <p:cNvPr id="63" name="Text 50"/>
          <p:cNvSpPr txBox="1"/>
          <p:nvPr/>
        </p:nvSpPr>
        <p:spPr>
          <a:xfrm>
            <a:off x="4892040" y="55229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every channel</a:t>
            </a:r>
            <a:endParaRPr lang="en-US" sz="950" dirty="0"/>
          </a:p>
        </p:txBody>
      </p:sp>
      <p:sp>
        <p:nvSpPr>
          <p:cNvPr id="64" name="Node media"/>
          <p:cNvSpPr/>
          <p:nvPr/>
        </p:nvSpPr>
        <p:spPr>
          <a:xfrm>
            <a:off x="7077456" y="46542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65" name="Image 11" descr="media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9188" y="4796028"/>
            <a:ext cx="283464" cy="283464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6583680" y="52943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Media Library</a:t>
            </a:r>
            <a:endParaRPr lang="en-US" sz="1200" dirty="0"/>
          </a:p>
        </p:txBody>
      </p:sp>
      <p:sp>
        <p:nvSpPr>
          <p:cNvPr id="67" name="Text 53"/>
          <p:cNvSpPr txBox="1"/>
          <p:nvPr/>
        </p:nvSpPr>
        <p:spPr>
          <a:xfrm>
            <a:off x="6492240" y="55229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</a:t>
            </a:r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VOD</a:t>
            </a:r>
            <a:endParaRPr lang="en-US" sz="950" dirty="0"/>
          </a:p>
        </p:txBody>
      </p:sp>
      <p:sp>
        <p:nvSpPr>
          <p:cNvPr id="68" name="Connector"/>
          <p:cNvSpPr/>
          <p:nvPr/>
        </p:nvSpPr>
        <p:spPr>
          <a:xfrm>
            <a:off x="548640" y="5934456"/>
            <a:ext cx="411480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</a:ln>
        </p:spPr>
      </p:sp>
      <p:sp>
        <p:nvSpPr>
          <p:cNvPr id="69" name="Text 55"/>
          <p:cNvSpPr txBox="1"/>
          <p:nvPr/>
        </p:nvSpPr>
        <p:spPr>
          <a:xfrm>
            <a:off x="1051560" y="58338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signal</a:t>
            </a:r>
            <a:endParaRPr lang="en-US" sz="1050" dirty="0"/>
          </a:p>
        </p:txBody>
      </p:sp>
      <p:sp>
        <p:nvSpPr>
          <p:cNvPr id="70" name="Connector"/>
          <p:cNvSpPr/>
          <p:nvPr/>
        </p:nvSpPr>
        <p:spPr>
          <a:xfrm>
            <a:off x="2468880" y="5934456"/>
            <a:ext cx="411480" cy="0"/>
          </a:xfrm>
          <a:prstGeom prst="line">
            <a:avLst/>
          </a:prstGeom>
          <a:noFill/>
          <a:ln w="19050">
            <a:solidFill>
              <a:srgbClr val="5569F2"/>
            </a:solidFill>
            <a:prstDash val="dash"/>
          </a:ln>
        </p:spPr>
      </p:sp>
      <p:sp>
        <p:nvSpPr>
          <p:cNvPr id="71" name="Text 57"/>
          <p:cNvSpPr txBox="1"/>
          <p:nvPr/>
        </p:nvSpPr>
        <p:spPr>
          <a:xfrm>
            <a:off x="2971800" y="58338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path</a:t>
            </a:r>
            <a:endParaRPr lang="en-US" sz="1050" dirty="0"/>
          </a:p>
        </p:txBody>
      </p:sp>
      <p:sp>
        <p:nvSpPr>
          <p:cNvPr id="72" name="Connector"/>
          <p:cNvSpPr/>
          <p:nvPr/>
        </p:nvSpPr>
        <p:spPr>
          <a:xfrm>
            <a:off x="4389120" y="5934456"/>
            <a:ext cx="411480" cy="0"/>
          </a:xfrm>
          <a:prstGeom prst="line">
            <a:avLst/>
          </a:prstGeom>
          <a:noFill/>
          <a:ln w="19050">
            <a:solidFill>
              <a:srgbClr val="6A7387"/>
            </a:solidFill>
            <a:prstDash val="solid"/>
          </a:ln>
        </p:spPr>
      </p:sp>
      <p:sp>
        <p:nvSpPr>
          <p:cNvPr id="73" name="Text 59"/>
          <p:cNvSpPr txBox="1"/>
          <p:nvPr/>
        </p:nvSpPr>
        <p:spPr>
          <a:xfrm>
            <a:off x="4892040" y="58338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/ control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SIGNAL FLOW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VOD </a:t>
            </a:r>
            <a:pPr algn="l" indent="0" marL="0">
              <a:lnSpc>
                <a:spcPct val="95000"/>
              </a:lnSpc>
              <a:buNone/>
            </a:pPr>
            <a:r>
              <a:rPr lang="en-US" sz="3400" b="1" spc="-60" kern="0" dirty="0">
                <a:solidFill>
                  <a:srgbClr val="E9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 Live</a:t>
            </a:r>
            <a:endParaRPr lang="en-US" sz="3400" dirty="0"/>
          </a:p>
        </p:txBody>
      </p:sp>
      <p:sp>
        <p:nvSpPr>
          <p:cNvPr id="4" name="Group Volt platform"/>
          <p:cNvSpPr/>
          <p:nvPr/>
        </p:nvSpPr>
        <p:spPr>
          <a:xfrm>
            <a:off x="2286000" y="1965960"/>
            <a:ext cx="5486400" cy="2103120"/>
          </a:xfrm>
          <a:prstGeom prst="roundRect">
            <a:avLst>
              <a:gd name="adj" fmla="val 5652"/>
            </a:avLst>
          </a:prstGeom>
          <a:solidFill>
            <a:srgbClr val="5569F2">
              <a:alpha val="14000"/>
            </a:srgbClr>
          </a:solidFill>
          <a:ln w="12700">
            <a:solidFill>
              <a:srgbClr val="3A4152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2487168" y="21122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98A1B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VOLT PLATFORM</a:t>
            </a:r>
            <a:endParaRPr lang="en-US" sz="1000" dirty="0"/>
          </a:p>
        </p:txBody>
      </p:sp>
      <p:sp>
        <p:nvSpPr>
          <p:cNvPr id="6" name="Connector"/>
          <p:cNvSpPr/>
          <p:nvPr/>
        </p:nvSpPr>
        <p:spPr>
          <a:xfrm>
            <a:off x="1380744" y="2880360"/>
            <a:ext cx="1536192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7" name="Text 5"/>
          <p:cNvSpPr txBox="1"/>
          <p:nvPr/>
        </p:nvSpPr>
        <p:spPr>
          <a:xfrm>
            <a:off x="1762506" y="2770632"/>
            <a:ext cx="498348" cy="219456"/>
          </a:xfrm>
          <a:prstGeom prst="rect">
            <a:avLst/>
          </a:prstGeom>
          <a:solidFill>
            <a:srgbClr val="0F12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files</a:t>
            </a:r>
            <a:endParaRPr lang="en-US" sz="950" dirty="0"/>
          </a:p>
        </p:txBody>
      </p:sp>
      <p:sp>
        <p:nvSpPr>
          <p:cNvPr id="8" name="Connector"/>
          <p:cNvSpPr/>
          <p:nvPr/>
        </p:nvSpPr>
        <p:spPr>
          <a:xfrm>
            <a:off x="3483864" y="2880360"/>
            <a:ext cx="713232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9" name="Connector"/>
          <p:cNvSpPr/>
          <p:nvPr/>
        </p:nvSpPr>
        <p:spPr>
          <a:xfrm>
            <a:off x="4764024" y="2880360"/>
            <a:ext cx="713232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10" name="Connector"/>
          <p:cNvSpPr/>
          <p:nvPr/>
        </p:nvSpPr>
        <p:spPr>
          <a:xfrm>
            <a:off x="6044184" y="2880360"/>
            <a:ext cx="713232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11" name="Connector"/>
          <p:cNvSpPr/>
          <p:nvPr/>
        </p:nvSpPr>
        <p:spPr>
          <a:xfrm>
            <a:off x="7324344" y="2880360"/>
            <a:ext cx="1124712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12" name="Text 10"/>
          <p:cNvSpPr txBox="1"/>
          <p:nvPr/>
        </p:nvSpPr>
        <p:spPr>
          <a:xfrm>
            <a:off x="7493508" y="2770632"/>
            <a:ext cx="886968" cy="219456"/>
          </a:xfrm>
          <a:prstGeom prst="rect">
            <a:avLst/>
          </a:prstGeom>
          <a:solidFill>
            <a:srgbClr val="0F12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HLS · DASH</a:t>
            </a:r>
            <a:endParaRPr lang="en-US" sz="950" dirty="0"/>
          </a:p>
        </p:txBody>
      </p:sp>
      <p:sp>
        <p:nvSpPr>
          <p:cNvPr id="13" name="Connector"/>
          <p:cNvSpPr/>
          <p:nvPr/>
        </p:nvSpPr>
        <p:spPr>
          <a:xfrm>
            <a:off x="9015984" y="2880360"/>
            <a:ext cx="950976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</a:ln>
        </p:spPr>
      </p:sp>
      <p:sp>
        <p:nvSpPr>
          <p:cNvPr id="14" name="Connector"/>
          <p:cNvSpPr/>
          <p:nvPr/>
        </p:nvSpPr>
        <p:spPr>
          <a:xfrm>
            <a:off x="9966960" y="1783080"/>
            <a:ext cx="0" cy="219456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</a:ln>
        </p:spPr>
      </p:sp>
      <p:sp>
        <p:nvSpPr>
          <p:cNvPr id="15" name="Connector"/>
          <p:cNvSpPr/>
          <p:nvPr/>
        </p:nvSpPr>
        <p:spPr>
          <a:xfrm>
            <a:off x="9966960" y="1783080"/>
            <a:ext cx="722376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16" name="Connector"/>
          <p:cNvSpPr/>
          <p:nvPr/>
        </p:nvSpPr>
        <p:spPr>
          <a:xfrm>
            <a:off x="9966960" y="2880360"/>
            <a:ext cx="722376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17" name="Connector"/>
          <p:cNvSpPr/>
          <p:nvPr/>
        </p:nvSpPr>
        <p:spPr>
          <a:xfrm>
            <a:off x="9966960" y="3977640"/>
            <a:ext cx="722376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18" name="Connector"/>
          <p:cNvSpPr/>
          <p:nvPr/>
        </p:nvSpPr>
        <p:spPr>
          <a:xfrm flipV="1">
            <a:off x="5760720" y="3657600"/>
            <a:ext cx="0" cy="996696"/>
          </a:xfrm>
          <a:prstGeom prst="line">
            <a:avLst/>
          </a:prstGeom>
          <a:noFill/>
          <a:ln w="19050">
            <a:solidFill>
              <a:srgbClr val="6A7387"/>
            </a:solidFill>
            <a:prstDash val="solid"/>
            <a:tailEnd type="arrow"/>
          </a:ln>
        </p:spPr>
      </p:sp>
      <p:sp>
        <p:nvSpPr>
          <p:cNvPr id="19" name="Connector"/>
          <p:cNvSpPr/>
          <p:nvPr/>
        </p:nvSpPr>
        <p:spPr>
          <a:xfrm flipV="1">
            <a:off x="3200400" y="3657600"/>
            <a:ext cx="0" cy="996696"/>
          </a:xfrm>
          <a:prstGeom prst="line">
            <a:avLst/>
          </a:prstGeom>
          <a:noFill/>
          <a:ln w="19050">
            <a:solidFill>
              <a:srgbClr val="6A7387"/>
            </a:solidFill>
            <a:prstDash val="solid"/>
            <a:tailEnd type="arrow"/>
          </a:ln>
        </p:spPr>
      </p:sp>
      <p:sp>
        <p:nvSpPr>
          <p:cNvPr id="20" name="Node watchfolder"/>
          <p:cNvSpPr/>
          <p:nvPr/>
        </p:nvSpPr>
        <p:spPr>
          <a:xfrm>
            <a:off x="813816" y="25968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21" name="Image 0" descr="watchfold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738628"/>
            <a:ext cx="283464" cy="28346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320040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Watchfolder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228600" y="3465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 ingest</a:t>
            </a:r>
            <a:endParaRPr lang="en-US" sz="950" dirty="0"/>
          </a:p>
        </p:txBody>
      </p:sp>
      <p:sp>
        <p:nvSpPr>
          <p:cNvPr id="24" name="Node upload"/>
          <p:cNvSpPr/>
          <p:nvPr/>
        </p:nvSpPr>
        <p:spPr>
          <a:xfrm>
            <a:off x="2916936" y="46542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25" name="Image 1" descr="uploa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668" y="4796028"/>
            <a:ext cx="283464" cy="28346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2423160" y="52943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Upload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2331720" y="55229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browser</a:t>
            </a:r>
            <a:endParaRPr lang="en-US" sz="950" dirty="0"/>
          </a:p>
        </p:txBody>
      </p:sp>
      <p:sp>
        <p:nvSpPr>
          <p:cNvPr id="28" name="Node media"/>
          <p:cNvSpPr/>
          <p:nvPr/>
        </p:nvSpPr>
        <p:spPr>
          <a:xfrm>
            <a:off x="2916936" y="25968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29" name="Image 2" descr="media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668" y="2738628"/>
            <a:ext cx="283464" cy="28346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2423160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Media Library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2331720" y="3465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publishing rules</a:t>
            </a:r>
            <a:endParaRPr lang="en-US" sz="950" dirty="0"/>
          </a:p>
        </p:txBody>
      </p:sp>
      <p:sp>
        <p:nvSpPr>
          <p:cNvPr id="32" name="Node epg"/>
          <p:cNvSpPr/>
          <p:nvPr/>
        </p:nvSpPr>
        <p:spPr>
          <a:xfrm>
            <a:off x="4197096" y="25968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33" name="Image 3" descr="ep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828" y="2738628"/>
            <a:ext cx="283464" cy="283464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3703320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Schedule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3611880" y="3465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EPG · XMLTV</a:t>
            </a:r>
            <a:endParaRPr lang="en-US" sz="950" dirty="0"/>
          </a:p>
        </p:txBody>
      </p:sp>
      <p:sp>
        <p:nvSpPr>
          <p:cNvPr id="36" name="Node fast"/>
          <p:cNvSpPr/>
          <p:nvPr/>
        </p:nvSpPr>
        <p:spPr>
          <a:xfrm>
            <a:off x="5477256" y="25968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37" name="Image 4" descr="fas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8988" y="2738628"/>
            <a:ext cx="283464" cy="28346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4983480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Playout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4892040" y="3465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 channel</a:t>
            </a:r>
            <a:endParaRPr lang="en-US" sz="950" dirty="0"/>
          </a:p>
        </p:txBody>
      </p:sp>
      <p:sp>
        <p:nvSpPr>
          <p:cNvPr id="40" name="Node packager"/>
          <p:cNvSpPr/>
          <p:nvPr/>
        </p:nvSpPr>
        <p:spPr>
          <a:xfrm>
            <a:off x="6757416" y="25968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41" name="Image 5" descr="packager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9148" y="2738628"/>
            <a:ext cx="283464" cy="283464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6263640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Packager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6172200" y="3465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HLS · DASH</a:t>
            </a:r>
            <a:endParaRPr lang="en-US" sz="950" dirty="0"/>
          </a:p>
        </p:txBody>
      </p:sp>
      <p:sp>
        <p:nvSpPr>
          <p:cNvPr id="44" name="Node cdn"/>
          <p:cNvSpPr/>
          <p:nvPr/>
        </p:nvSpPr>
        <p:spPr>
          <a:xfrm>
            <a:off x="8449056" y="25968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45" name="Image 6" descr="cdn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0788" y="2738628"/>
            <a:ext cx="283464" cy="283464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7955280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CDN</a:t>
            </a:r>
            <a:endParaRPr lang="en-US" sz="1200" dirty="0"/>
          </a:p>
        </p:txBody>
      </p:sp>
      <p:sp>
        <p:nvSpPr>
          <p:cNvPr id="47" name="Text 38"/>
          <p:cNvSpPr txBox="1"/>
          <p:nvPr/>
        </p:nvSpPr>
        <p:spPr>
          <a:xfrm>
            <a:off x="7863840" y="3465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edge</a:t>
            </a:r>
            <a:endParaRPr lang="en-US" sz="950" dirty="0"/>
          </a:p>
        </p:txBody>
      </p:sp>
      <p:sp>
        <p:nvSpPr>
          <p:cNvPr id="48" name="Node tv"/>
          <p:cNvSpPr/>
          <p:nvPr/>
        </p:nvSpPr>
        <p:spPr>
          <a:xfrm>
            <a:off x="10689336" y="149961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49" name="Image 7" descr="tv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1068" y="1641348"/>
            <a:ext cx="283464" cy="283464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10195560" y="21396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TV</a:t>
            </a:r>
            <a:endParaRPr lang="en-US" sz="1200" dirty="0"/>
          </a:p>
        </p:txBody>
      </p:sp>
      <p:sp>
        <p:nvSpPr>
          <p:cNvPr id="51" name="Node mobile"/>
          <p:cNvSpPr/>
          <p:nvPr/>
        </p:nvSpPr>
        <p:spPr>
          <a:xfrm>
            <a:off x="10689336" y="25968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52" name="Image 8" descr="mobil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1068" y="2738628"/>
            <a:ext cx="283464" cy="283464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10195560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Mobile</a:t>
            </a:r>
            <a:endParaRPr lang="en-US" sz="1200" dirty="0"/>
          </a:p>
        </p:txBody>
      </p:sp>
      <p:sp>
        <p:nvSpPr>
          <p:cNvPr id="54" name="Node desktop"/>
          <p:cNvSpPr/>
          <p:nvPr/>
        </p:nvSpPr>
        <p:spPr>
          <a:xfrm>
            <a:off x="10689336" y="369417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55" name="Image 9" descr="desktop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31068" y="3835908"/>
            <a:ext cx="283464" cy="283464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10195560" y="4334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Web</a:t>
            </a:r>
            <a:endParaRPr lang="en-US" sz="1200" dirty="0"/>
          </a:p>
        </p:txBody>
      </p:sp>
      <p:sp>
        <p:nvSpPr>
          <p:cNvPr id="57" name="Node loop"/>
          <p:cNvSpPr/>
          <p:nvPr/>
        </p:nvSpPr>
        <p:spPr>
          <a:xfrm>
            <a:off x="5477256" y="46542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58" name="Image 10" descr="loop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8988" y="4796028"/>
            <a:ext cx="283464" cy="283464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4983480" y="52943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Loops &amp; fillers</a:t>
            </a:r>
            <a:endParaRPr lang="en-US" sz="1200" dirty="0"/>
          </a:p>
        </p:txBody>
      </p:sp>
      <p:sp>
        <p:nvSpPr>
          <p:cNvPr id="60" name="Text 47"/>
          <p:cNvSpPr txBox="1"/>
          <p:nvPr/>
        </p:nvSpPr>
        <p:spPr>
          <a:xfrm>
            <a:off x="4892040" y="55229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slate · filler</a:t>
            </a:r>
            <a:endParaRPr lang="en-US" sz="950" dirty="0"/>
          </a:p>
        </p:txBody>
      </p:sp>
      <p:sp>
        <p:nvSpPr>
          <p:cNvPr id="61" name="Connector"/>
          <p:cNvSpPr/>
          <p:nvPr/>
        </p:nvSpPr>
        <p:spPr>
          <a:xfrm>
            <a:off x="548640" y="5934456"/>
            <a:ext cx="411480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</a:ln>
        </p:spPr>
      </p:sp>
      <p:sp>
        <p:nvSpPr>
          <p:cNvPr id="62" name="Text 49"/>
          <p:cNvSpPr txBox="1"/>
          <p:nvPr/>
        </p:nvSpPr>
        <p:spPr>
          <a:xfrm>
            <a:off x="1051560" y="58338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signal</a:t>
            </a:r>
            <a:endParaRPr lang="en-US" sz="1050" dirty="0"/>
          </a:p>
        </p:txBody>
      </p:sp>
      <p:sp>
        <p:nvSpPr>
          <p:cNvPr id="63" name="Connector"/>
          <p:cNvSpPr/>
          <p:nvPr/>
        </p:nvSpPr>
        <p:spPr>
          <a:xfrm>
            <a:off x="2468880" y="5934456"/>
            <a:ext cx="411480" cy="0"/>
          </a:xfrm>
          <a:prstGeom prst="line">
            <a:avLst/>
          </a:prstGeom>
          <a:noFill/>
          <a:ln w="19050">
            <a:solidFill>
              <a:srgbClr val="6A7387"/>
            </a:solidFill>
            <a:prstDash val="solid"/>
          </a:ln>
        </p:spPr>
      </p:sp>
      <p:sp>
        <p:nvSpPr>
          <p:cNvPr id="64" name="Text 51"/>
          <p:cNvSpPr txBox="1"/>
          <p:nvPr/>
        </p:nvSpPr>
        <p:spPr>
          <a:xfrm>
            <a:off x="2971800" y="58338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/ control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INPUTS AND FAILOVER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Calm about the bad night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828800"/>
            <a:ext cx="4480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channel takes a primary and a backup input. When the primary drops, Volt switches to the backup and says so.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every source is lost, the slate goes on air until the signal returns.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signal on the primary input. Volt switched to the backup at 14:02:11.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0" y="1828800"/>
            <a:ext cx="6156655" cy="4069080"/>
          </a:xfrm>
          <a:prstGeom prst="roundRect">
            <a:avLst>
              <a:gd name="adj" fmla="val 2472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938528"/>
          <a:ext cx="588233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449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98A1B6"/>
                          </a:solidFill>
                          <a:latin typeface="Archivo Expanded SemiBold" pitchFamily="34" charset="0"/>
                          <a:ea typeface="Archivo Expanded SemiBold" pitchFamily="34" charset="-122"/>
                          <a:cs typeface="Archivo Expanded SemiBold" pitchFamily="34" charset="-120"/>
                        </a:rPr>
                        <a:t>SPECIFICATION</a:t>
                      </a:r>
                      <a:endParaRPr lang="en-US" sz="900" dirty="0">
                        <a:latin typeface="Archivo Expanded SemiBold" charset="0"/>
                        <a:ea typeface="Archivo Expanded SemiBold" charset="0"/>
                        <a:cs typeface="Archivo Expanded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100" kern="0" dirty="0">
                          <a:solidFill>
                            <a:srgbClr val="98A1B6"/>
                          </a:solidFill>
                          <a:latin typeface="Archivo Expanded SemiBold" pitchFamily="34" charset="0"/>
                          <a:ea typeface="Archivo Expanded SemiBold" pitchFamily="34" charset="-122"/>
                          <a:cs typeface="Archivo Expanded SemiBold" pitchFamily="34" charset="-120"/>
                        </a:rPr>
                        <a:t>BEHAVIOUR</a:t>
                      </a:r>
                      <a:endParaRPr lang="en-US" sz="900" dirty="0">
                        <a:latin typeface="Archivo Expanded SemiBold" charset="0"/>
                        <a:ea typeface="Archivo Expanded SemiBold" charset="0"/>
                        <a:cs typeface="Archivo Expanded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ECF4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Ingest protocols</a:t>
                      </a:r>
                      <a:endParaRPr lang="en-US" sz="13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SRT, RTMP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ECF4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Inputs</a:t>
                      </a:r>
                      <a:endParaRPr lang="en-US" sz="13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Primary and backup per channel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ECF4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Failover</a:t>
                      </a:r>
                      <a:endParaRPr lang="en-US" sz="13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Automatic switch to backup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ECF4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Total loss</a:t>
                      </a:r>
                      <a:endParaRPr lang="en-US" sz="13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Slate on air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ECF4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Outputs</a:t>
                      </a:r>
                      <a:endParaRPr lang="en-US" sz="13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HLS and DASH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ECF4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Captions</a:t>
                      </a:r>
                      <a:endParaRPr lang="en-US" sz="13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 subtitles and translation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ECF4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Health</a:t>
                      </a:r>
                      <a:endParaRPr lang="en-US" sz="13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Server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8A1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Input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8A1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Encoder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8A1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Output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8A1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On air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The checks an operator makes, built in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spc="-200" kern="0" dirty="0">
                <a:solidFill>
                  <a:srgbClr val="8B9C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5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gates on every stream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844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</a:t>
            </a:r>
            <a:pPr indent="0" marL="0">
              <a:buNone/>
            </a:pPr>
            <a:r>
              <a:rPr lang="en-US" sz="1250" dirty="0">
                <a:solidFill>
                  <a:srgbClr val="98A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2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Input </a:t>
            </a:r>
            <a:pPr indent="0" marL="0">
              <a:buNone/>
            </a:pPr>
            <a:r>
              <a:rPr lang="en-US" sz="1250" dirty="0">
                <a:solidFill>
                  <a:srgbClr val="98A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2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Encoder </a:t>
            </a:r>
            <a:pPr indent="0" marL="0">
              <a:buNone/>
            </a:pPr>
            <a:r>
              <a:rPr lang="en-US" sz="1250" dirty="0">
                <a:solidFill>
                  <a:srgbClr val="98A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2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Output </a:t>
            </a:r>
            <a:pPr indent="0" marL="0">
              <a:buNone/>
            </a:pPr>
            <a:r>
              <a:rPr lang="en-US" sz="1250" dirty="0">
                <a:solidFill>
                  <a:srgbClr val="98A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2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air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8288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spc="-200" kern="0" dirty="0">
                <a:solidFill>
                  <a:srgbClr val="8B9C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2</a:t>
            </a:r>
            <a:endParaRPr lang="en-US" sz="96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inputs per channel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35844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and backup, over SRT or RTMP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18288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spc="-200" kern="0" dirty="0">
                <a:solidFill>
                  <a:srgbClr val="8B9C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2</a:t>
            </a:r>
            <a:endParaRPr lang="en-US" sz="96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output formats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35844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HLS and DASH from the same channel</a:t>
            </a:r>
            <a:endParaRPr lang="en-US" sz="1250" dirty="0"/>
          </a:p>
        </p:txBody>
      </p:sp>
      <p:sp>
        <p:nvSpPr>
          <p:cNvPr id="13" name="Card"/>
          <p:cNvSpPr/>
          <p:nvPr/>
        </p:nvSpPr>
        <p:spPr>
          <a:xfrm>
            <a:off x="548640" y="4389120"/>
            <a:ext cx="11094415" cy="1463040"/>
          </a:xfrm>
          <a:prstGeom prst="roundRect">
            <a:avLst>
              <a:gd name="adj" fmla="val 6875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6451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98A1B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HOW VOLT REPORTS A FAILOVER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983480"/>
            <a:ext cx="8168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9ECF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“No signal on the primary input. Volt switched to the backup at 14:02:11.”</a:t>
            </a:r>
            <a:endParaRPr lang="en-US" sz="2200" dirty="0"/>
          </a:p>
        </p:txBody>
      </p:sp>
      <p:sp>
        <p:nvSpPr>
          <p:cNvPr id="16" name="Status pill Backup on air"/>
          <p:cNvSpPr/>
          <p:nvPr/>
        </p:nvSpPr>
        <p:spPr>
          <a:xfrm>
            <a:off x="9539935" y="5074920"/>
            <a:ext cx="1394460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58807" y="5175504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786823" y="5074920"/>
            <a:ext cx="112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FBBF2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BACKUP ON AIR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4F46E5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VOD </a:t>
            </a:r>
            <a:pPr indent="0" marL="0">
              <a:buNone/>
            </a:pPr>
            <a:r>
              <a:rPr lang="en-US" sz="1000" b="1" spc="14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000" spc="140" kern="0" dirty="0">
                <a:solidFill>
                  <a:srgbClr val="4F46E5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 LIVE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0F1218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Turn your archive into a channel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82880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4B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media to the library by upload or watchfolder. Publishing rules decide where each item can go.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4B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schedule in the EPG, or import it as XMLTV.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4B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on air as a FAST channel, with loops and fillers covering the gaps.</a:t>
            </a:r>
            <a:endParaRPr lang="en-US" sz="1700" dirty="0"/>
          </a:p>
        </p:txBody>
      </p:sp>
      <p:pic>
        <p:nvPicPr>
          <p:cNvPr id="5" name="Image 0" descr="E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828800"/>
            <a:ext cx="5790895" cy="2200540"/>
          </a:xfrm>
          <a:prstGeom prst="rect">
            <a:avLst/>
          </a:prstGeom>
        </p:spPr>
      </p:pic>
      <p:sp>
        <p:nvSpPr>
          <p:cNvPr id="6" name="Screen frame"/>
          <p:cNvSpPr/>
          <p:nvPr/>
        </p:nvSpPr>
        <p:spPr>
          <a:xfrm>
            <a:off x="5852160" y="1828800"/>
            <a:ext cx="5790895" cy="2200540"/>
          </a:xfrm>
          <a:prstGeom prst="roundRect">
            <a:avLst>
              <a:gd name="adj" fmla="val 2031"/>
            </a:avLst>
          </a:prstGeom>
          <a:ln w="9525">
            <a:solidFill>
              <a:srgbClr val="C6CED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4193932"/>
            <a:ext cx="5790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 is for documents, appendices and print. Product screens stay in Control room.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B546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201168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400" spc="-10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See it live.</a:t>
            </a:r>
            <a:endParaRPr lang="en-US" sz="54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54864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a channel go from the camera to every screen, then clip it while it is still on air.</a:t>
            </a:r>
            <a:endParaRPr lang="en-US" sz="18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48640" y="55778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name · your.name@example.com · +00 000 000 000</a:t>
            </a:r>
            <a:endParaRPr lang="en-US" sz="1100" dirty="0"/>
          </a:p>
        </p:txBody>
      </p:sp>
      <p:sp>
        <p:nvSpPr>
          <p:cNvPr id="5" name="Button Book a demo"/>
          <p:cNvSpPr/>
          <p:nvPr/>
        </p:nvSpPr>
        <p:spPr>
          <a:xfrm>
            <a:off x="548640" y="4617720"/>
            <a:ext cx="1828800" cy="502920"/>
          </a:xfrm>
          <a:prstGeom prst="roundRect">
            <a:avLst>
              <a:gd name="adj" fmla="val 12727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617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Book a demo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olt Streaming">
  <a:themeElements>
    <a:clrScheme name="Volt Streaming">
      <a:dk1>
        <a:srgbClr val="0F1218"/>
      </a:dk1>
      <a:lt1>
        <a:srgbClr val="FFFFFF"/>
      </a:lt1>
      <a:dk2>
        <a:srgbClr val="171B24"/>
      </a:dk2>
      <a:lt2>
        <a:srgbClr val="F6F8FC"/>
      </a:lt2>
      <a:accent1>
        <a:srgbClr val="5569F2"/>
      </a:accent1>
      <a:accent2>
        <a:srgbClr val="4F46E5"/>
      </a:accent2>
      <a:accent3>
        <a:srgbClr val="5B8CFF"/>
      </a:accent3>
      <a:accent4>
        <a:srgbClr val="9A9DFF"/>
      </a:accent4>
      <a:accent5>
        <a:srgbClr val="4ADE80"/>
      </a:accent5>
      <a:accent6>
        <a:srgbClr val="FBBF24"/>
      </a:accent6>
      <a:hlink>
        <a:srgbClr val="8B9CFF"/>
      </a:hlink>
      <a:folHlink>
        <a:srgbClr val="9A9DFF"/>
      </a:folHlink>
    </a:clrScheme>
    <a:fontScheme name="Volt Streaming">
      <a:majorFont>
        <a:latin typeface="Archiv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Volt Streaming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 Streaming slide template</dc:title>
  <dc:subject>PptxGenJS Presentation</dc:subject>
  <dc:creator>Volt Streaming</dc:creator>
  <cp:lastModifiedBy>Volt Streaming</cp:lastModifiedBy>
  <cp:revision>1</cp:revision>
  <dcterms:created xsi:type="dcterms:W3CDTF">2026-10-18T16:20:16Z</dcterms:created>
  <dcterms:modified xsi:type="dcterms:W3CDTF">2026-10-18T16:20:16Z</dcterms:modified>
</cp:coreProperties>
</file>